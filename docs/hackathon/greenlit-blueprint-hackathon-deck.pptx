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47aa049cde499d" /><Relationship Type="http://schemas.openxmlformats.org/officeDocument/2006/relationships/extended-properties" Target="/docProps/app.xml" Id="R41b0caa4201a463d" /><Relationship Type="http://schemas.openxmlformats.org/officeDocument/2006/relationships/officeDocument" Target="/ppt/presentation.xml" Id="R192d5b486e744a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f2593090c74d84"/>
  </p:sldMasterIdLst>
  <p:notesMasterIdLst>
    <p:notesMasterId xmlns:r="http://schemas.openxmlformats.org/officeDocument/2006/relationships" r:id="R43235e75b6134f88"/>
  </p:notesMasterIdLst>
  <p:sldIdLst>
    <p:sldId xmlns:r="http://schemas.openxmlformats.org/officeDocument/2006/relationships" id="256" r:id="R30c26f076b2e4047"/>
    <p:sldId xmlns:r="http://schemas.openxmlformats.org/officeDocument/2006/relationships" id="257" r:id="R47576086f7154e81"/>
    <p:sldId xmlns:r="http://schemas.openxmlformats.org/officeDocument/2006/relationships" id="258" r:id="Rb4cfe1078a9c470a"/>
    <p:sldId xmlns:r="http://schemas.openxmlformats.org/officeDocument/2006/relationships" id="259" r:id="R604f4c7a97d84015"/>
    <p:sldId xmlns:r="http://schemas.openxmlformats.org/officeDocument/2006/relationships" id="260" r:id="Rc3cb7415069640b1"/>
    <p:sldId xmlns:r="http://schemas.openxmlformats.org/officeDocument/2006/relationships" id="261" r:id="Rc0457f165f3c4d79"/>
    <p:sldId xmlns:r="http://schemas.openxmlformats.org/officeDocument/2006/relationships" id="262" r:id="R085fcf5e960e4e20"/>
    <p:sldId xmlns:r="http://schemas.openxmlformats.org/officeDocument/2006/relationships" id="263" r:id="R17b8492d0ff749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9d2385306c4261" /><Relationship Type="http://schemas.openxmlformats.org/officeDocument/2006/relationships/slideMaster" Target="/ppt/slideMasters/slideMaster1.xml" Id="R2bf2593090c74d84" /><Relationship Type="http://schemas.openxmlformats.org/officeDocument/2006/relationships/notesMaster" Target="/ppt/notesMasters/notesMaster1.xml" Id="R43235e75b6134f88" /><Relationship Type="http://schemas.openxmlformats.org/officeDocument/2006/relationships/presProps" Target="/ppt/presProps.xml" Id="R2faecf44fed54a78" /><Relationship Type="http://schemas.openxmlformats.org/officeDocument/2006/relationships/tableStyles" Target="/ppt/tableStyles.xml" Id="R501f0ceefcdd40ef" /><Relationship Type="http://schemas.openxmlformats.org/officeDocument/2006/relationships/slide" Target="/ppt/slides/slide1.xml" Id="R30c26f076b2e4047" /><Relationship Type="http://schemas.openxmlformats.org/officeDocument/2006/relationships/slide" Target="/ppt/slides/slide2.xml" Id="R47576086f7154e81" /><Relationship Type="http://schemas.openxmlformats.org/officeDocument/2006/relationships/slide" Target="/ppt/slides/slide3.xml" Id="Rb4cfe1078a9c470a" /><Relationship Type="http://schemas.openxmlformats.org/officeDocument/2006/relationships/slide" Target="/ppt/slides/slide4.xml" Id="R604f4c7a97d84015" /><Relationship Type="http://schemas.openxmlformats.org/officeDocument/2006/relationships/slide" Target="/ppt/slides/slide5.xml" Id="Rc3cb7415069640b1" /><Relationship Type="http://schemas.openxmlformats.org/officeDocument/2006/relationships/slide" Target="/ppt/slides/slide6.xml" Id="Rc0457f165f3c4d79" /><Relationship Type="http://schemas.openxmlformats.org/officeDocument/2006/relationships/slide" Target="/ppt/slides/slide7.xml" Id="R085fcf5e960e4e20" /><Relationship Type="http://schemas.openxmlformats.org/officeDocument/2006/relationships/slide" Target="/ppt/slides/slide8.xml" Id="R17b8492d0ff749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aed9047a1243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0e3316e640474d" /><Relationship Type="http://schemas.openxmlformats.org/officeDocument/2006/relationships/notesMaster" Target="/ppt/notesMasters/notesMaster1.xml" Id="R88cc2af7c3cc4a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24bd0257a247c7" /><Relationship Type="http://schemas.openxmlformats.org/officeDocument/2006/relationships/notesMaster" Target="/ppt/notesMasters/notesMaster1.xml" Id="Ra234de5c18d944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bfe88501724815" /><Relationship Type="http://schemas.openxmlformats.org/officeDocument/2006/relationships/notesMaster" Target="/ppt/notesMasters/notesMaster1.xml" Id="Rfe9d5dbe649948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3ad8d496044245" /><Relationship Type="http://schemas.openxmlformats.org/officeDocument/2006/relationships/notesMaster" Target="/ppt/notesMasters/notesMaster1.xml" Id="Rb0cba7208dc14b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76c9c360864ec9" /><Relationship Type="http://schemas.openxmlformats.org/officeDocument/2006/relationships/notesMaster" Target="/ppt/notesMasters/notesMaster1.xml" Id="Re20bc9d6baac4d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77265d3ce34861" /><Relationship Type="http://schemas.openxmlformats.org/officeDocument/2006/relationships/notesMaster" Target="/ppt/notesMasters/notesMaster1.xml" Id="Rdbc12d12d9ca4f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8c0f5045234646" /><Relationship Type="http://schemas.openxmlformats.org/officeDocument/2006/relationships/notesMaster" Target="/ppt/notesMasters/notesMaster1.xml" Id="Rf20f6a5947af4f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4429c019e54df6" /><Relationship Type="http://schemas.openxmlformats.org/officeDocument/2006/relationships/notesMaster" Target="/ppt/notesMasters/notesMaster1.xml" Id="R5c0485a5de8747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product narrative: docs/DEVPOST_SUBMISSION.md</a:t>
            </a:r>
          </a:p>
          <a:p xmlns:a="http://schemas.openxmlformats.org/drawingml/2006/main">
            <a:r>
              <a:t>- Greenlit logo and visual assets: project-owned source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problem and workflow: docs/DEVPOST_SUBMISSION.md.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workflow and trust model: docs/DEVPOST_SUBMISSION.md and docs/ARCHITECTURE.md.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Synthetic failure scenario and product screenshot: docs/JUDGE_DEMO.md and project-owned Greenlit walkthrough.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Synthetic client-review screenshot and workflow: docs/JUDGE_DEMO.md and project-owned Greenlit walkthrough.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Synthetic approval-record screenshot and scope boundaries: docs/DEVPOST_SUBMISSION.md and project-owned Greenlit walkthrough.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Architecture, security boundaries, and scaling path: docs/ARCHITECTURE.md.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Commit count and dates: Git history through release commit 4dd64b2.</a:t>
            </a:r>
          </a:p>
          <a:p xmlns:a="http://schemas.openxmlformats.org/drawingml/2006/main">
            <a:r>
              <a:t>- Validation counts: current release test and Playwright results executed July 28, 2026.</a:t>
            </a:r>
          </a:p>
          <a:p xmlns:a="http://schemas.openxmlformats.org/drawingml/2006/main">
            <a:r>
              <a:t>- Live and source URLs: docs/DEVPOST_SUBMISSION.md.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10605f88ba49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17509ce53d4280" /><Relationship Type="http://schemas.openxmlformats.org/officeDocument/2006/relationships/slideLayout" Target="/ppt/slideLayouts/slideLayout1.xml" Id="R17b08866593f49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b08866593f49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d1169e144a4f3e" /><Relationship Type="http://schemas.openxmlformats.org/officeDocument/2006/relationships/image" Target="/ppt/media/image.png" Id="R7f192d708a46460c" /><Relationship Type="http://schemas.openxmlformats.org/officeDocument/2006/relationships/notesSlide" Target="/ppt/notesSlides/notesSlide1.xml" Id="R52439dd4607f48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f985e411344ae" /><Relationship Type="http://schemas.openxmlformats.org/officeDocument/2006/relationships/notesSlide" Target="/ppt/notesSlides/notesSlide2.xml" Id="R63e4254def554b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0df0f3e30e405c" /><Relationship Type="http://schemas.openxmlformats.org/officeDocument/2006/relationships/notesSlide" Target="/ppt/notesSlides/notesSlide3.xml" Id="R8fb6d54036154e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20400184a0416e" /><Relationship Type="http://schemas.openxmlformats.org/officeDocument/2006/relationships/image" Target="/ppt/media/image.jpeg" Id="Rf17cf51aa5244972" /><Relationship Type="http://schemas.openxmlformats.org/officeDocument/2006/relationships/notesSlide" Target="/ppt/notesSlides/notesSlide4.xml" Id="Rd09f541e566145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22a7dca37a4b75" /><Relationship Type="http://schemas.openxmlformats.org/officeDocument/2006/relationships/image" Target="/ppt/media/image2.jpeg" Id="Rd1425d87406c45ef" /><Relationship Type="http://schemas.openxmlformats.org/officeDocument/2006/relationships/notesSlide" Target="/ppt/notesSlides/notesSlide5.xml" Id="Rae3a343ce4224a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a107800c846f2" /><Relationship Type="http://schemas.openxmlformats.org/officeDocument/2006/relationships/image" Target="/ppt/media/image3.jpeg" Id="R96ef5566dc1c44ec" /><Relationship Type="http://schemas.openxmlformats.org/officeDocument/2006/relationships/notesSlide" Target="/ppt/notesSlides/notesSlide6.xml" Id="R68fa787e988e4c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434f93b60344a7" /><Relationship Type="http://schemas.openxmlformats.org/officeDocument/2006/relationships/notesSlide" Target="/ppt/notesSlides/notesSlide7.xml" Id="R3e76ff39327c4a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5642acbef4edc" /><Relationship Type="http://schemas.openxmlformats.org/officeDocument/2006/relationships/notesSlide" Target="/ppt/notesSlides/notesSlide8.xml" Id="R95873acbd5d044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4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93F06-511D-4DE4-ADFD-F5540730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0"/>
            <a:ext cx="385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DF"/>
          </a:solidFill>
          <a:ln xmlns:a="http://schemas.openxmlformats.org/drawingml/2006/main" w="0">
            <a:solidFill>
              <a:srgbClr val="DCE8D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192d708a46460c"/>
          <a:stretch xmlns:a="http://schemas.openxmlformats.org/drawingml/2006/main"/>
        </p:blipFill>
        <p:spPr>
          <a:xfrm xmlns:a="http://schemas.openxmlformats.org/drawingml/2006/main">
            <a:off x="685800" y="535781"/>
            <a:ext cx="2095500" cy="471488"/>
          </a:xfrm>
          <a:prstGeom xmlns:a="http://schemas.openxmlformats.org/drawingml/2006/main" prst="rect">
            <a:avLst/>
          </a:prstGeom>
        </p:spPr>
      </p:pic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CF7307-FECC-4F6E-92F2-28081846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7048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800" b="0" i="0">
                <a:solidFill>
                  <a:srgbClr val="FFFEFA"/>
                </a:solidFill>
              </a:defRPr>
            </a:pPr>
            <a:r>
              <a:rPr sz="4800" b="0" i="0">
                <a:solidFill>
                  <a:srgbClr val="FFFEFA"/>
                </a:solidFill>
              </a:rPr>
              <a:t>Turn every SOW promise into proof a client can approve.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9958D6-4694-4822-A1EC-8C6D1FB3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EAE6DC"/>
                </a:solidFill>
              </a:defRPr>
            </a:pPr>
            <a:r>
              <a:rPr sz="1800" b="0" i="0">
                <a:solidFill>
                  <a:srgbClr val="EAE6DC"/>
                </a:solidFill>
              </a:rPr>
              <a:t>For web agencies that need a clear approval trail.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3C8B8-5216-4FF4-BD35-FD70D156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38250"/>
            <a:ext cx="2809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2241C"/>
                </a:solidFill>
              </a:defRPr>
            </a:pPr>
            <a:r>
              <a:rPr sz="1125" b="1" i="0">
                <a:solidFill>
                  <a:srgbClr val="12241C"/>
                </a:solidFill>
              </a:rPr>
              <a:t>BLUEPRINT HACKATHON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3D5674-F484-4201-B445-84146234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34766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925" b="0" i="0">
                <a:solidFill>
                  <a:srgbClr val="12241C"/>
                </a:solidFill>
              </a:defRPr>
            </a:pPr>
            <a:r>
              <a:rPr sz="2925" b="0" i="0">
                <a:solidFill>
                  <a:srgbClr val="12241C"/>
                </a:solidFill>
              </a:rPr>
              <a:t>One SOW,</a:t>
            </a:r>
          </a:p>
          <a:p xmlns:a="http://schemas.openxmlformats.org/drawingml/2006/main">
            <a:pPr algn="ctr">
              <a:buNone/>
              <a:defRPr sz="2925" b="0" i="0">
                <a:solidFill>
                  <a:srgbClr val="12241C"/>
                </a:solidFill>
              </a:defRPr>
            </a:pPr>
            <a:r>
              <a:rPr sz="2925" b="0" i="0">
                <a:solidFill>
                  <a:srgbClr val="12241C"/>
                </a:solidFill>
              </a:rPr>
              <a:t>six clear checks,</a:t>
            </a:r>
          </a:p>
          <a:p xmlns:a="http://schemas.openxmlformats.org/drawingml/2006/main">
            <a:pPr algn="ctr">
              <a:buNone/>
              <a:defRPr sz="2925" b="0" i="0">
                <a:solidFill>
                  <a:srgbClr val="12241C"/>
                </a:solidFill>
              </a:defRPr>
            </a:pPr>
            <a:r>
              <a:rPr sz="2925" b="0" i="0">
                <a:solidFill>
                  <a:srgbClr val="12241C"/>
                </a:solidFill>
              </a:rPr>
              <a:t>one approval trail.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A7B725-A829-47AA-970C-065ADA4A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00575"/>
            <a:ext cx="2809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B9105-EC63-4D1F-B055-58F54FF2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10125"/>
            <a:ext cx="2809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2241C"/>
                </a:solidFill>
              </a:defRPr>
            </a:pPr>
            <a:r>
              <a:rPr sz="1350" b="1" i="0">
                <a:solidFill>
                  <a:srgbClr val="12241C"/>
                </a:solidFill>
              </a:rPr>
              <a:t>Built during Blueprint 2026</a:t>
            </a:r>
          </a:p>
        </p:txBody>
      </p:sp>
    </p:spTree>
    <p:extLst>
      <p:ext uri="{BB962C8B-B14F-4D97-AF65-F5344CB8AC3E}">
        <p14:creationId xmlns:p14="http://schemas.microsoft.com/office/powerpoint/2010/main" val="20682456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0D60C8-06C2-4F1E-81FA-4CF11AF4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9F18D4-713D-4269-A3A8-A47A776C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02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5978862-940C-48C9-A14B-958169CB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0" i="0">
                <a:solidFill>
                  <a:srgbClr val="12241C"/>
                </a:solidFill>
              </a:defRPr>
            </a:pPr>
            <a:r>
              <a:rPr sz="3600" b="0" i="0">
                <a:solidFill>
                  <a:srgbClr val="12241C"/>
                </a:solidFill>
              </a:rPr>
              <a:t>The work may be finished, but the approval trail is scattered.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9DD0F4-D507-4D44-8409-D8067E4B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A561C-5D58-458E-9C01-81247857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0" i="0">
                <a:solidFill>
                  <a:srgbClr val="126B46"/>
                </a:solidFill>
              </a:defRPr>
            </a:pPr>
            <a:r>
              <a:rPr sz="2625" b="0" i="0">
                <a:solidFill>
                  <a:srgbClr val="126B46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99BF3F-2BC7-46CD-A94A-9610D418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5050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41C"/>
                </a:solidFill>
              </a:defRPr>
            </a:pPr>
            <a:r>
              <a:rPr sz="1800" b="1" i="0">
                <a:solidFill>
                  <a:srgbClr val="12241C"/>
                </a:solidFill>
              </a:rPr>
              <a:t>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9F1ABF-DE12-4C96-B666-4A878DCA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2412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556159"/>
                </a:solidFill>
              </a:defRPr>
            </a:pPr>
            <a:r>
              <a:rPr sz="1575" b="0" i="0">
                <a:solidFill>
                  <a:srgbClr val="556159"/>
                </a:solidFill>
              </a:rPr>
              <a:t>The promise starts in the SOW.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A0E7D-1E70-476B-9509-366C1AF2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86100"/>
            <a:ext cx="8886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2C8"/>
          </a:solidFill>
          <a:ln xmlns:a="http://schemas.openxmlformats.org/drawingml/2006/main" w="0">
            <a:solidFill>
              <a:srgbClr val="D5D2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0B42CB-122C-4B14-9510-71B822CB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0" i="0">
                <a:solidFill>
                  <a:srgbClr val="126B46"/>
                </a:solidFill>
              </a:defRPr>
            </a:pPr>
            <a:r>
              <a:rPr sz="2625" b="0" i="0">
                <a:solidFill>
                  <a:srgbClr val="126B46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96B4BB-4B96-4983-8F25-FDC74BD4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813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41C"/>
                </a:solidFill>
              </a:defRPr>
            </a:pPr>
            <a:r>
              <a:rPr sz="1800" b="1" i="0">
                <a:solidFill>
                  <a:srgbClr val="12241C"/>
                </a:solidFill>
              </a:rPr>
              <a:t>Proof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69B4E-99E9-4183-909C-26EC07D0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0042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556159"/>
                </a:solidFill>
              </a:defRPr>
            </a:pPr>
            <a:r>
              <a:rPr sz="1575" b="0" i="0">
                <a:solidFill>
                  <a:srgbClr val="556159"/>
                </a:solidFill>
              </a:rPr>
              <a:t>Screenshots and test results end up somewhere else.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2A606-682D-456B-8C68-43C358EF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62400"/>
            <a:ext cx="8886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2C8"/>
          </a:solidFill>
          <a:ln xmlns:a="http://schemas.openxmlformats.org/drawingml/2006/main" w="0">
            <a:solidFill>
              <a:srgbClr val="D5D2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D910EF-61A8-492B-9DBD-E8D88D08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0" i="0">
                <a:solidFill>
                  <a:srgbClr val="126B46"/>
                </a:solidFill>
              </a:defRPr>
            </a:pPr>
            <a:r>
              <a:rPr sz="2625" b="0" i="0">
                <a:solidFill>
                  <a:srgbClr val="126B46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5DC460-7DBA-496F-A1B3-97DFD1D0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576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41C"/>
                </a:solidFill>
              </a:defRPr>
            </a:pPr>
            <a:r>
              <a:rPr sz="1800" b="1" i="0">
                <a:solidFill>
                  <a:srgbClr val="12241C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956FAF-2B33-450F-ACEB-B5A410FA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7672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556159"/>
                </a:solidFill>
              </a:defRPr>
            </a:pPr>
            <a:r>
              <a:rPr sz="1575" b="0" i="0">
                <a:solidFill>
                  <a:srgbClr val="556159"/>
                </a:solidFill>
              </a:rPr>
              <a:t>The approval gets buried in email or chat.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77CF2F-C2C9-4DB4-BB8C-E400E221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838700"/>
            <a:ext cx="8886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2C8"/>
          </a:solidFill>
          <a:ln xmlns:a="http://schemas.openxmlformats.org/drawingml/2006/main" w="0">
            <a:solidFill>
              <a:srgbClr val="D5D2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255A0E-D753-4792-B18D-E4871545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0" i="0">
                <a:solidFill>
                  <a:srgbClr val="126B46"/>
                </a:solidFill>
              </a:defRPr>
            </a:pPr>
            <a:r>
              <a:rPr sz="2625" b="0" i="0">
                <a:solidFill>
                  <a:srgbClr val="126B46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01CC09-53FF-484A-90EC-12F95EA5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1339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41C"/>
                </a:solidFill>
              </a:defRPr>
            </a:pPr>
            <a:r>
              <a:rPr sz="1800" b="1" i="0">
                <a:solidFill>
                  <a:srgbClr val="12241C"/>
                </a:solidFill>
              </a:rPr>
              <a:t>Billing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0E0921-C599-4DAF-B109-8983A516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5302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556159"/>
                </a:solidFill>
              </a:defRPr>
            </a:pPr>
            <a:r>
              <a:rPr sz="1575" b="0" i="0">
                <a:solidFill>
                  <a:srgbClr val="556159"/>
                </a:solidFill>
              </a:rPr>
              <a:t>By invoicing time, the evidence trail is gone.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C65135-7AE4-4556-BCF7-3CA644E0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886450"/>
            <a:ext cx="4648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500" b="1" i="0">
                <a:solidFill>
                  <a:srgbClr val="126B46"/>
                </a:solidFill>
              </a:defRPr>
            </a:pPr>
            <a:r>
              <a:rPr sz="1500" b="1" i="0">
                <a:solidFill>
                  <a:srgbClr val="126B46"/>
                </a:solidFill>
              </a:rPr>
              <a:t>Greenlit keeps the promise, proof, decision, and invoice handoff together.</a:t>
            </a:r>
          </a:p>
        </p:txBody>
      </p:sp>
    </p:spTree>
    <p:extLst>
      <p:ext uri="{BB962C8B-B14F-4D97-AF65-F5344CB8AC3E}">
        <p14:creationId xmlns:p14="http://schemas.microsoft.com/office/powerpoint/2010/main" val="1225916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535102-E16A-4E06-9982-B70A1761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0176EF-EC10-4E68-ADE5-BB51577D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03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6EEA3E-2085-47B9-9BE9-77824480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9239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0" i="0">
                <a:solidFill>
                  <a:srgbClr val="12241C"/>
                </a:solidFill>
              </a:defRPr>
            </a:pPr>
            <a:r>
              <a:rPr sz="3600" b="0" i="0">
                <a:solidFill>
                  <a:srgbClr val="12241C"/>
                </a:solidFill>
              </a:rPr>
              <a:t>The same promise stays connected from contract to approval.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7E1D9-3953-439E-B385-A1B2E349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628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250" b="0" i="0">
                <a:solidFill>
                  <a:srgbClr val="AFD12F"/>
                </a:solidFill>
              </a:defRPr>
            </a:pPr>
            <a:r>
              <a:rPr sz="5250" b="0" i="0">
                <a:solidFill>
                  <a:srgbClr val="126B46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E40A84-04DB-4C69-B5D7-B61DE46A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2171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6B46"/>
          </a:solidFill>
          <a:ln xmlns:a="http://schemas.openxmlformats.org/drawingml/2006/main" w="0">
            <a:solidFill>
              <a:srgbClr val="126B4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F349B-DE3E-4EA0-855F-8BE45AB7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2241C"/>
                </a:solidFill>
              </a:defRPr>
            </a:pPr>
            <a:r>
              <a:rPr sz="2025" b="1" i="0">
                <a:solidFill>
                  <a:srgbClr val="12241C"/>
                </a:solidFill>
              </a:rPr>
              <a:t>Confirm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9A960-81EB-441E-A44D-C1FE2E8D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2171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56159"/>
                </a:solidFill>
              </a:defRPr>
            </a:pPr>
            <a:r>
              <a:rPr sz="1350" b="0" i="0">
                <a:solidFill>
                  <a:srgbClr val="556159"/>
                </a:solidFill>
              </a:rPr>
              <a:t>Turn the SOW into clear criteria your team approves.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3C3263-16D8-41B7-8DE6-451258E9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57500"/>
            <a:ext cx="38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126B46"/>
                </a:solidFill>
              </a:defRPr>
            </a:pPr>
            <a:r>
              <a:rPr sz="2400" b="1" i="0">
                <a:solidFill>
                  <a:srgbClr val="126B46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F5186-DE14-4D0C-A620-9DFA8814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81250"/>
            <a:ext cx="628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250" b="0" i="0">
                <a:solidFill>
                  <a:srgbClr val="AFD12F"/>
                </a:solidFill>
              </a:defRPr>
            </a:pPr>
            <a:r>
              <a:rPr sz="5250" b="0" i="0">
                <a:solidFill>
                  <a:srgbClr val="126B46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F95F0-7B6E-4991-8A5F-1ED7228B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352800"/>
            <a:ext cx="2171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6B46"/>
          </a:solidFill>
          <a:ln xmlns:a="http://schemas.openxmlformats.org/drawingml/2006/main" w="0">
            <a:solidFill>
              <a:srgbClr val="126B4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2137D4-5CC2-4DF0-86F7-314AAAC3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6195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2241C"/>
                </a:solidFill>
              </a:defRPr>
            </a:pPr>
            <a:r>
              <a:rPr sz="2025" b="1" i="0">
                <a:solidFill>
                  <a:srgbClr val="12241C"/>
                </a:solidFill>
              </a:rPr>
              <a:t>Observe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28D5A6-40C8-45DC-857C-E4D84A8F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14800"/>
            <a:ext cx="2171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56159"/>
                </a:solidFill>
              </a:defRPr>
            </a:pPr>
            <a:r>
              <a:rPr sz="1350" b="0" i="0">
                <a:solidFill>
                  <a:srgbClr val="556159"/>
                </a:solidFill>
              </a:rPr>
              <a:t>Run typed browser checks against the approved staging build.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FDCF95-5DEE-4FE8-905E-D1132BB5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38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126B46"/>
                </a:solidFill>
              </a:defRPr>
            </a:pPr>
            <a:r>
              <a:rPr sz="2400" b="1" i="0">
                <a:solidFill>
                  <a:srgbClr val="126B46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052F4F-98AA-4C1D-A8E4-D9B5EC00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628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250" b="0" i="0">
                <a:solidFill>
                  <a:srgbClr val="126B46"/>
                </a:solidFill>
              </a:defRPr>
            </a:pPr>
            <a:r>
              <a:rPr sz="5250" b="0" i="0">
                <a:solidFill>
                  <a:srgbClr val="126B46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BAF01D-4D3B-4556-8E45-A0C7938B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52800"/>
            <a:ext cx="2171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6B46"/>
          </a:solidFill>
          <a:ln xmlns:a="http://schemas.openxmlformats.org/drawingml/2006/main" w="0">
            <a:solidFill>
              <a:srgbClr val="126B4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67E517-4EFA-4EBE-971E-A873FE66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2241C"/>
                </a:solidFill>
              </a:defRPr>
            </a:pPr>
            <a:r>
              <a:rPr sz="2025" b="1" i="0">
                <a:solidFill>
                  <a:srgbClr val="12241C"/>
                </a:solidFill>
              </a:rPr>
              <a:t>Decide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C04965-C345-4364-8DE5-EC23C2A4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14800"/>
            <a:ext cx="2171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56159"/>
                </a:solidFill>
              </a:defRPr>
            </a:pPr>
            <a:r>
              <a:rPr sz="1350" b="0" i="0">
                <a:solidFill>
                  <a:srgbClr val="556159"/>
                </a:solidFill>
              </a:rPr>
              <a:t>Give one reviewer the promise, result, evidence, and deadline.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EE9594-0759-4C30-B2D5-88747D30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57500"/>
            <a:ext cx="38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126B46"/>
                </a:solidFill>
              </a:defRPr>
            </a:pPr>
            <a:r>
              <a:rPr sz="2400" b="1" i="0">
                <a:solidFill>
                  <a:srgbClr val="126B46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57D690-D188-4A5C-B2F2-7141C689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81250"/>
            <a:ext cx="628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250" b="0" i="0">
                <a:solidFill>
                  <a:srgbClr val="AFD12F"/>
                </a:solidFill>
              </a:defRPr>
            </a:pPr>
            <a:r>
              <a:rPr sz="5250" b="0" i="0">
                <a:solidFill>
                  <a:srgbClr val="126B46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6D7763-A013-4F85-A5DB-2A242BCF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352800"/>
            <a:ext cx="2171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6B46"/>
          </a:solidFill>
          <a:ln xmlns:a="http://schemas.openxmlformats.org/drawingml/2006/main" w="0">
            <a:solidFill>
              <a:srgbClr val="126B4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F0E32D-497C-4195-A7B8-6C1DFABB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6195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2241C"/>
                </a:solidFill>
              </a:defRPr>
            </a:pPr>
            <a:r>
              <a:rPr sz="2025" b="1" i="0">
                <a:solidFill>
                  <a:srgbClr val="12241C"/>
                </a:solidFill>
              </a:rPr>
              <a:t>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FC8E4E-B29E-41AB-9FED-83725DB4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14800"/>
            <a:ext cx="2171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56159"/>
                </a:solidFill>
              </a:defRPr>
            </a:pPr>
            <a:r>
              <a:rPr sz="1350" b="0" i="0">
                <a:solidFill>
                  <a:srgbClr val="556159"/>
                </a:solidFill>
              </a:rPr>
              <a:t>Keep the decision with the details needed for invoicing.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40982D-6FF5-4C5D-B701-2CFD04F0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86425"/>
            <a:ext cx="108204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057C7D-F805-4BE3-BD1A-10BDD9F5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91200"/>
            <a:ext cx="1024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EFA"/>
                </a:solidFill>
              </a:defRPr>
            </a:pPr>
            <a:r>
              <a:rPr sz="1650" b="1" i="0">
                <a:solidFill>
                  <a:srgbClr val="FFFEFA"/>
                </a:solidFill>
              </a:rPr>
              <a:t>Your team confirms the criteria, the browser checks the work, and your client makes the call.</a:t>
            </a:r>
          </a:p>
        </p:txBody>
      </p:sp>
    </p:spTree>
    <p:extLst>
      <p:ext uri="{BB962C8B-B14F-4D97-AF65-F5344CB8AC3E}">
        <p14:creationId xmlns:p14="http://schemas.microsoft.com/office/powerpoint/2010/main" val="19387754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DC3FFF-ABE9-4A24-B7F0-815E1337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37F83-DD51-4006-8E8B-02B9660C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04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F0EB57-76D8-4C8D-A926-5520BDF1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7620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0" i="0">
                <a:solidFill>
                  <a:srgbClr val="12241C"/>
                </a:solidFill>
              </a:defRPr>
            </a:pPr>
            <a:r>
              <a:rPr sz="3600" b="0" i="0">
                <a:solidFill>
                  <a:srgbClr val="12241C"/>
                </a:solidFill>
              </a:rPr>
              <a:t>A polished success message is not proof.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7114B2-C000-48C6-8159-B632962F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56159"/>
                </a:solidFill>
              </a:defRPr>
            </a:pPr>
            <a:r>
              <a:rPr sz="1650" b="0" i="0">
                <a:solidFill>
                  <a:srgbClr val="556159"/>
                </a:solidFill>
              </a:rPr>
              <a:t>The test site says the form worked even though the request returned 500. Greenlit records that failure alongside the exact criterion.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35C9DA-8577-47D2-8A1B-2A04D1E4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40005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B"/>
          </a:solidFill>
          <a:ln xmlns:a="http://schemas.openxmlformats.org/drawingml/2006/main" w="19050">
            <a:solidFill>
              <a:srgbClr val="B63F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C1AE4-2C15-4A10-A0F7-CE65EEE0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B63F3A"/>
                </a:solidFill>
              </a:defRPr>
            </a:pPr>
            <a:r>
              <a:rPr sz="1275" b="1" i="0">
                <a:solidFill>
                  <a:srgbClr val="B63F3A"/>
                </a:solidFill>
              </a:rPr>
              <a:t>AC-04 · FAILED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22F1E-1975-4133-9FC1-9F3E071B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958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241C"/>
                </a:solidFill>
              </a:defRPr>
            </a:pPr>
            <a:r>
              <a:rPr sz="1275" b="0" i="0">
                <a:solidFill>
                  <a:srgbClr val="12241C"/>
                </a:solidFill>
              </a:rPr>
              <a:t>The page showed success, but the server returned HTTP 500.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7cf51aa5244972"/>
          <a:srcRect xmlns:a="http://schemas.openxmlformats.org/drawingml/2006/main" l="0" t="1064" r="0" b="10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191125" y="2333625"/>
            <a:ext cx="6315075" cy="3381375"/>
          </a:xfrm>
          <a:prstGeom xmlns:a="http://schemas.openxmlformats.org/drawingml/2006/main" prst="round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8CB14-00C5-4E9B-9530-8CC918B2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67400"/>
            <a:ext cx="6315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125" b="0" i="0">
                <a:solidFill>
                  <a:srgbClr val="556159"/>
                </a:solidFill>
              </a:defRPr>
            </a:pPr>
            <a:r>
              <a:rPr sz="1125" b="0" i="0">
                <a:solidFill>
                  <a:srgbClr val="556159"/>
                </a:solidFill>
              </a:rPr>
              <a:t>Synthetic walkthrough evidence; no retained transaction was created.</a:t>
            </a:r>
          </a:p>
        </p:txBody>
      </p:sp>
    </p:spTree>
    <p:extLst>
      <p:ext uri="{BB962C8B-B14F-4D97-AF65-F5344CB8AC3E}">
        <p14:creationId xmlns:p14="http://schemas.microsoft.com/office/powerpoint/2010/main" val="4010653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FBF8B6-4548-4C48-AD1F-DD4C25F7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59289-3BED-4C62-8DC6-76BEB820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05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AF97CA-989A-4873-AA9C-2A80FF13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9334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0" i="0">
                <a:solidFill>
                  <a:srgbClr val="12241C"/>
                </a:solidFill>
              </a:defRPr>
            </a:pPr>
            <a:r>
              <a:rPr sz="3600" b="0" i="0">
                <a:solidFill>
                  <a:srgbClr val="12241C"/>
                </a:solidFill>
              </a:rPr>
              <a:t>The client sees the promise, not a test dashboard.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25d87406c45ef"/>
          <a:srcRect xmlns:a="http://schemas.openxmlformats.org/drawingml/2006/main" l="112" t="0" r="11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85800" y="2333625"/>
            <a:ext cx="7096125" cy="4000500"/>
          </a:xfrm>
          <a:prstGeom xmlns:a="http://schemas.openxmlformats.org/drawingml/2006/main" prst="round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42B97-CFB7-4A3E-BAED-2FDD871A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717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The original SOW clause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2EB7A9-1E77-4649-99BF-C6AE5222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381375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Expected result and actual result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F36467-596D-4780-835A-0F118F1D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10075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Evidence and the deadline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EEBD9-55AA-4FA9-8E7C-6696D76F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21970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Approve or request changes</a:t>
            </a:r>
          </a:p>
        </p:txBody>
      </p:sp>
    </p:spTree>
    <p:extLst>
      <p:ext uri="{BB962C8B-B14F-4D97-AF65-F5344CB8AC3E}">
        <p14:creationId xmlns:p14="http://schemas.microsoft.com/office/powerpoint/2010/main" val="5267635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A5F94-CC59-4C40-8891-0725111B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3F5B3-0AED-4966-8CBB-9BFD820E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06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0B1300-8477-4AB0-81C6-926377F8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858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0" i="0">
                <a:solidFill>
                  <a:srgbClr val="12241C"/>
                </a:solidFill>
              </a:defRPr>
            </a:pPr>
            <a:r>
              <a:rPr sz="3600" b="0" i="0">
                <a:solidFill>
                  <a:srgbClr val="12241C"/>
                </a:solidFill>
              </a:rPr>
              <a:t>The walkthrough ends in an invoice-ready sample.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2DB63-3C7F-41A7-85D8-A105AEA2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37623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56159"/>
                </a:solidFill>
              </a:defRPr>
            </a:pPr>
            <a:r>
              <a:rPr sz="1650" b="0" i="0">
                <a:solidFill>
                  <a:srgbClr val="556159"/>
                </a:solidFill>
              </a:rPr>
              <a:t>The sample receipt keeps the milestone value, revision, observed build, and local-only decision in one place.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7A9A6-211C-45E9-A278-81A84428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38575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6B46"/>
                </a:solidFill>
              </a:defRPr>
            </a:pPr>
            <a:r>
              <a:rPr sz="1650" b="1" i="0">
                <a:solidFill>
                  <a:srgbClr val="126B46"/>
                </a:solidFill>
              </a:rPr>
              <a:t>What it 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87311-DE97-4045-96C7-843810D3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3762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2241C"/>
                </a:solidFill>
              </a:defRPr>
            </a:pPr>
            <a:r>
              <a:rPr sz="1425" b="0" i="0">
                <a:solidFill>
                  <a:srgbClr val="12241C"/>
                </a:solidFill>
              </a:rPr>
              <a:t>A printable summary of the approval and invoice handoff.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7D6CDE-5952-420E-8166-38EF23FF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B63F3A"/>
                </a:solidFill>
              </a:defRPr>
            </a:pPr>
            <a:r>
              <a:rPr sz="1650" b="1" i="0">
                <a:solidFill>
                  <a:srgbClr val="B63F3A"/>
                </a:solidFill>
              </a:rPr>
              <a:t>What it is not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8648C0-B7D2-4BA5-BE6A-8EA84AB4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91175"/>
            <a:ext cx="3762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2241C"/>
                </a:solidFill>
              </a:defRPr>
            </a:pPr>
            <a:r>
              <a:rPr sz="1425" b="0" i="0">
                <a:solidFill>
                  <a:srgbClr val="12241C"/>
                </a:solidFill>
              </a:rPr>
              <a:t>A signature, certification, payment record, or guarantee.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f5566dc1c44ec"/>
          <a:srcRect xmlns:a="http://schemas.openxmlformats.org/drawingml/2006/main" l="9428" t="0" r="94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048250" y="1809750"/>
            <a:ext cx="6457950" cy="44767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0826490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24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4D90CA-C3CF-4EF4-A29B-AB875418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EFA"/>
                </a:solidFill>
              </a:defRPr>
            </a:pPr>
            <a:r>
              <a:rPr sz="975" b="1" i="0">
                <a:solidFill>
                  <a:srgbClr val="FFFEFA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3BA42-6E95-4119-B03C-20257847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FFFEFA"/>
                </a:solidFill>
              </a:defRPr>
            </a:pPr>
            <a:r>
              <a:rPr sz="975" b="1" i="0">
                <a:solidFill>
                  <a:srgbClr val="FFFEFA"/>
                </a:solidFill>
              </a:rPr>
              <a:t>07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E2E1EE-B999-40F9-8089-EF02611F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096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750" b="0" i="0">
                <a:solidFill>
                  <a:srgbClr val="FFFEFA"/>
                </a:solidFill>
              </a:defRPr>
            </a:pPr>
            <a:r>
              <a:rPr sz="3750" b="0" i="0">
                <a:solidFill>
                  <a:srgbClr val="FFFEFA"/>
                </a:solidFill>
              </a:rPr>
              <a:t>Gemini drafts the criteria, but people make every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D4DDFF-F373-43EB-8DC8-86A1F524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D6FF61"/>
                </a:solidFill>
              </a:defRPr>
            </a:pPr>
            <a:r>
              <a:rPr sz="1200" b="1" i="0">
                <a:solidFill>
                  <a:srgbClr val="B9D0C0"/>
                </a:solidFill>
              </a:rPr>
              <a:t>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DC1123-1665-4E8F-BCE8-D36FF0E8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572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Next.js on Vercel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Gemini with Zod validation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Cloudflare Queue and browser worker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Supabase with row-level security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471B27-4CFB-4D0C-93E8-7961C579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43125"/>
            <a:ext cx="190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6159"/>
          </a:solidFill>
          <a:ln xmlns:a="http://schemas.openxmlformats.org/drawingml/2006/main" w="0">
            <a:solidFill>
              <a:srgbClr val="55615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774CFF-5BA5-475D-B634-743F5A97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D6FF61"/>
                </a:solidFill>
              </a:defRPr>
            </a:pPr>
            <a:r>
              <a:rPr sz="1200" b="1" i="0">
                <a:solidFill>
                  <a:srgbClr val="B9D0C0"/>
                </a:solidFill>
              </a:rPr>
              <a:t>TRUST BOUNDARIES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AC9D00-B8E1-4669-9FA0-862523CA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57500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Criteria confirmed by a person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Typed, allowlisted checks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Signed jobs and callbacks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Private evidence that expires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7F2FC-F18F-4E9C-9381-D70709D3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648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DF"/>
          </a:solidFill>
          <a:ln xmlns:a="http://schemas.openxmlformats.org/drawingml/2006/main" w="0">
            <a:solidFill>
              <a:srgbClr val="DCE8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5E8753-6AEA-4360-9953-1A4EC71C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38825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2241C"/>
                </a:solidFill>
              </a:defRPr>
            </a:pPr>
            <a:r>
              <a:rPr sz="1425" b="1" i="0">
                <a:solidFill>
                  <a:srgbClr val="12241C"/>
                </a:solidFill>
              </a:rPr>
              <a:t>A stateless web app, queued runners, and frozen criteria keep every run repeatable.</a:t>
            </a:r>
          </a:p>
        </p:txBody>
      </p:sp>
    </p:spTree>
    <p:extLst>
      <p:ext uri="{BB962C8B-B14F-4D97-AF65-F5344CB8AC3E}">
        <p14:creationId xmlns:p14="http://schemas.microsoft.com/office/powerpoint/2010/main" val="20962102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DCE8D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5ADB57A8-EF96-4A8F-8EDE-0D12F535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525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200" b="0" i="0">
                <a:solidFill>
                  <a:srgbClr val="12241C"/>
                </a:solidFill>
              </a:defRPr>
            </a:pPr>
            <a:r>
              <a:rPr sz="4200" b="0" i="0">
                <a:solidFill>
                  <a:srgbClr val="12241C"/>
                </a:solidFill>
              </a:rPr>
              <a:t>Built during the hackathon, tested end to end.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9B7056-6787-4277-B8F0-F6B0F3C6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565D1D-5B0B-43EB-875B-4753DBF2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9F02F-2E21-4A09-B7E8-06D9D418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000375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2241C"/>
                </a:solidFill>
              </a:defRPr>
            </a:pPr>
            <a:r>
              <a:rPr sz="1725" b="0" i="0">
                <a:solidFill>
                  <a:srgbClr val="12241C"/>
                </a:solidFill>
              </a:rPr>
              <a:t>Built from scratch during Blueprint 2026 as a full agency-to-client 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BC96C-93B1-48DD-9E06-2F57DCC49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B1BEDA-86E1-412A-AECA-3DAB52FA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29050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2241C"/>
                </a:solidFill>
              </a:defRPr>
            </a:pPr>
            <a:r>
              <a:rPr sz="1725" b="0" i="0">
                <a:solidFill>
                  <a:srgbClr val="12241C"/>
                </a:solidFill>
              </a:rPr>
              <a:t>Typecheck, lint, tests, build, migrations, and browser flows all passed.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7E575D-6E25-4C9E-BF86-AF087103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Explore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F2607-D16D-4983-B798-BC2811D8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57725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2241C"/>
                </a:solidFill>
              </a:defRPr>
            </a:pPr>
            <a:r>
              <a:rPr sz="1725" b="0" i="0">
                <a:solidFill>
                  <a:srgbClr val="12241C"/>
                </a:solidFill>
              </a:rPr>
              <a:t>Try the live walkthrough, then review the source and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C6DBE4-9CCF-4F30-9954-43952720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771F8-7EB1-4377-BE32-2B5CF559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772150"/>
            <a:ext cx="702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EFA"/>
                </a:solidFill>
              </a:defRPr>
            </a:pPr>
            <a:r>
              <a:rPr sz="1725" b="1" i="0">
                <a:solidFill>
                  <a:srgbClr val="FFFEFA"/>
                </a:solidFill>
              </a:rPr>
              <a:t>greenlitproof.vercel.app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338849-F9A3-42B4-A240-919C2522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5657850"/>
            <a:ext cx="2790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2241C"/>
                </a:solidFill>
              </a:defRPr>
            </a:pPr>
            <a:r>
              <a:rPr sz="1275" b="1" i="0">
                <a:solidFill>
                  <a:srgbClr val="12241C"/>
                </a:solidFill>
              </a:rPr>
              <a:t>github.com/</a:t>
            </a:r>
          </a:p>
          <a:p xmlns:a="http://schemas.openxmlformats.org/drawingml/2006/main">
            <a:pPr algn="r">
              <a:buNone/>
              <a:defRPr sz="1275" b="1" i="0">
                <a:solidFill>
                  <a:srgbClr val="12241C"/>
                </a:solidFill>
              </a:defRPr>
            </a:pPr>
            <a:r>
              <a:rPr sz="1275" b="1" i="0">
                <a:solidFill>
                  <a:srgbClr val="12241C"/>
                </a:solidFill>
              </a:rPr>
              <a:t>anayagarwalla-ai/greenlit</a:t>
            </a:r>
          </a:p>
        </p:txBody>
      </p:sp>
    </p:spTree>
    <p:extLst>
      <p:ext uri="{BB962C8B-B14F-4D97-AF65-F5344CB8AC3E}">
        <p14:creationId xmlns:p14="http://schemas.microsoft.com/office/powerpoint/2010/main" val="5314885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2026-07-30T00:05:50.4270000Z</dcterms:created>
  <dcterms:modified xsi:type="dcterms:W3CDTF">2026-07-30T00:05:50.4280000Z</dcterms:modified>
</coreProperties>
</file>