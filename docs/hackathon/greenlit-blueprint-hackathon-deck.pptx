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38fe608fb4429a" /><Relationship Type="http://schemas.openxmlformats.org/officeDocument/2006/relationships/extended-properties" Target="/docProps/app.xml" Id="R8a1e8e9ea8f54675" /><Relationship Type="http://schemas.openxmlformats.org/officeDocument/2006/relationships/officeDocument" Target="/ppt/presentation.xml" Id="Rbb58d400a48a41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4e6414aed74536"/>
  </p:sldMasterIdLst>
  <p:notesMasterIdLst>
    <p:notesMasterId xmlns:r="http://schemas.openxmlformats.org/officeDocument/2006/relationships" r:id="Recd8efbef43d4a61"/>
  </p:notesMasterIdLst>
  <p:sldIdLst>
    <p:sldId xmlns:r="http://schemas.openxmlformats.org/officeDocument/2006/relationships" id="256" r:id="Rf6acda5706ae4f8d"/>
    <p:sldId xmlns:r="http://schemas.openxmlformats.org/officeDocument/2006/relationships" id="257" r:id="Re72e437cbc2b421f"/>
    <p:sldId xmlns:r="http://schemas.openxmlformats.org/officeDocument/2006/relationships" id="258" r:id="R5c1a7f384a7b4201"/>
    <p:sldId xmlns:r="http://schemas.openxmlformats.org/officeDocument/2006/relationships" id="259" r:id="Rec16cdf468dd44dd"/>
    <p:sldId xmlns:r="http://schemas.openxmlformats.org/officeDocument/2006/relationships" id="260" r:id="R826abbdb3c5c4489"/>
    <p:sldId xmlns:r="http://schemas.openxmlformats.org/officeDocument/2006/relationships" id="261" r:id="R116946665f094056"/>
    <p:sldId xmlns:r="http://schemas.openxmlformats.org/officeDocument/2006/relationships" id="262" r:id="R20c2228f90904a96"/>
    <p:sldId xmlns:r="http://schemas.openxmlformats.org/officeDocument/2006/relationships" id="263" r:id="R2947ca2e1a324a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82a17d7d9b41e6" /><Relationship Type="http://schemas.openxmlformats.org/officeDocument/2006/relationships/slideMaster" Target="/ppt/slideMasters/slideMaster1.xml" Id="R1b4e6414aed74536" /><Relationship Type="http://schemas.openxmlformats.org/officeDocument/2006/relationships/notesMaster" Target="/ppt/notesMasters/notesMaster1.xml" Id="Recd8efbef43d4a61" /><Relationship Type="http://schemas.openxmlformats.org/officeDocument/2006/relationships/presProps" Target="/ppt/presProps.xml" Id="Rab06e2d05dc549f0" /><Relationship Type="http://schemas.openxmlformats.org/officeDocument/2006/relationships/tableStyles" Target="/ppt/tableStyles.xml" Id="Ra0f1d616314047ab" /><Relationship Type="http://schemas.openxmlformats.org/officeDocument/2006/relationships/slide" Target="/ppt/slides/slide1.xml" Id="Rf6acda5706ae4f8d" /><Relationship Type="http://schemas.openxmlformats.org/officeDocument/2006/relationships/slide" Target="/ppt/slides/slide2.xml" Id="Re72e437cbc2b421f" /><Relationship Type="http://schemas.openxmlformats.org/officeDocument/2006/relationships/slide" Target="/ppt/slides/slide3.xml" Id="R5c1a7f384a7b4201" /><Relationship Type="http://schemas.openxmlformats.org/officeDocument/2006/relationships/slide" Target="/ppt/slides/slide4.xml" Id="Rec16cdf468dd44dd" /><Relationship Type="http://schemas.openxmlformats.org/officeDocument/2006/relationships/slide" Target="/ppt/slides/slide5.xml" Id="R826abbdb3c5c4489" /><Relationship Type="http://schemas.openxmlformats.org/officeDocument/2006/relationships/slide" Target="/ppt/slides/slide6.xml" Id="R116946665f094056" /><Relationship Type="http://schemas.openxmlformats.org/officeDocument/2006/relationships/slide" Target="/ppt/slides/slide7.xml" Id="R20c2228f90904a96" /><Relationship Type="http://schemas.openxmlformats.org/officeDocument/2006/relationships/slide" Target="/ppt/slides/slide8.xml" Id="R2947ca2e1a324a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0a6d64b60e49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1536822f364c01" /><Relationship Type="http://schemas.openxmlformats.org/officeDocument/2006/relationships/notesMaster" Target="/ppt/notesMasters/notesMaster1.xml" Id="R4d75b7b0436d4c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2990ba3a994541" /><Relationship Type="http://schemas.openxmlformats.org/officeDocument/2006/relationships/notesMaster" Target="/ppt/notesMasters/notesMaster1.xml" Id="R91ae43b88ec741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06c5974437492f" /><Relationship Type="http://schemas.openxmlformats.org/officeDocument/2006/relationships/notesMaster" Target="/ppt/notesMasters/notesMaster1.xml" Id="R77dfbb8e1f0141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d67a17ce594b0b" /><Relationship Type="http://schemas.openxmlformats.org/officeDocument/2006/relationships/notesMaster" Target="/ppt/notesMasters/notesMaster1.xml" Id="Ree67a487029c45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69c215e5fe4c59" /><Relationship Type="http://schemas.openxmlformats.org/officeDocument/2006/relationships/notesMaster" Target="/ppt/notesMasters/notesMaster1.xml" Id="R3583a133a86642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b5eb8014314c0f" /><Relationship Type="http://schemas.openxmlformats.org/officeDocument/2006/relationships/notesMaster" Target="/ppt/notesMasters/notesMaster1.xml" Id="Rf84379a2630e46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dfabd6ef5749af" /><Relationship Type="http://schemas.openxmlformats.org/officeDocument/2006/relationships/notesMaster" Target="/ppt/notesMasters/notesMaster1.xml" Id="Rd6bca28045cf4c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0580c9533941b1" /><Relationship Type="http://schemas.openxmlformats.org/officeDocument/2006/relationships/notesMaster" Target="/ppt/notesMasters/notesMaster1.xml" Id="R34607ed4a6fe4f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narrative: docs/DEVPOST_SUBMISSION.md</a:t>
            </a:r>
          </a:p>
          <a:p xmlns:a="http://schemas.openxmlformats.org/drawingml/2006/main">
            <a:r>
              <a:t>- Greenlit logo and visual assets: project-owned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problem and workflow: docs/DEVPOST_SUBMISSION.md.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workflow and trust model: docs/DEVPOST_SUBMISSION.md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failure scenario and product screenshot: docs/JUDGE_DEMO.md and project-owned Greenlit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client-review screenshot and workflow: docs/JUDGE_DEMO.md and project-owned Greenlit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approval-record screenshot and scope boundaries: docs/DEVPOST_SUBMISSION.md and project-owned Greenlit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Architecture, security boundaries, and scaling path: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 count and dates: Git history through release commit 4dd64b2.</a:t>
            </a:r>
          </a:p>
          <a:p xmlns:a="http://schemas.openxmlformats.org/drawingml/2006/main">
            <a:r>
              <a:t>- Validation counts: current release test and Playwright results executed July 28, 2026.</a:t>
            </a:r>
          </a:p>
          <a:p xmlns:a="http://schemas.openxmlformats.org/drawingml/2006/main">
            <a:r>
              <a:t>- Live and source URLs: docs/DEVPOST_SUBMISSION.md.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689fa2aec4b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466083f88a4b32" /><Relationship Type="http://schemas.openxmlformats.org/officeDocument/2006/relationships/slideLayout" Target="/ppt/slideLayouts/slideLayout1.xml" Id="R6e6fe351be5946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6fe351be5946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bbb70b72b493b" /><Relationship Type="http://schemas.openxmlformats.org/officeDocument/2006/relationships/image" Target="/ppt/media/image.png" Id="R25db78e73067430d" /><Relationship Type="http://schemas.openxmlformats.org/officeDocument/2006/relationships/notesSlide" Target="/ppt/notesSlides/notesSlide1.xml" Id="R40b65fb82d1748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8691b261e4b07" /><Relationship Type="http://schemas.openxmlformats.org/officeDocument/2006/relationships/notesSlide" Target="/ppt/notesSlides/notesSlide2.xml" Id="R4407f9302aa440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2fdda7aea4392" /><Relationship Type="http://schemas.openxmlformats.org/officeDocument/2006/relationships/notesSlide" Target="/ppt/notesSlides/notesSlide3.xml" Id="R2c71eefa785346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09b09146d4a31" /><Relationship Type="http://schemas.openxmlformats.org/officeDocument/2006/relationships/image" Target="/ppt/media/image2.png" Id="R9fb01cf4251e468e" /><Relationship Type="http://schemas.openxmlformats.org/officeDocument/2006/relationships/notesSlide" Target="/ppt/notesSlides/notesSlide4.xml" Id="R0e1fe3f8e65140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71ef5aeaa49e1" /><Relationship Type="http://schemas.openxmlformats.org/officeDocument/2006/relationships/image" Target="/ppt/media/image3.png" Id="R8e7b970ac8b942aa" /><Relationship Type="http://schemas.openxmlformats.org/officeDocument/2006/relationships/notesSlide" Target="/ppt/notesSlides/notesSlide5.xml" Id="R30bd405c06c248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d3f29240a4efa" /><Relationship Type="http://schemas.openxmlformats.org/officeDocument/2006/relationships/image" Target="/ppt/media/image4.png" Id="Ref4c6178e0d74af8" /><Relationship Type="http://schemas.openxmlformats.org/officeDocument/2006/relationships/notesSlide" Target="/ppt/notesSlides/notesSlide6.xml" Id="Ra7d9490bfaed45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c79f991124b2a" /><Relationship Type="http://schemas.openxmlformats.org/officeDocument/2006/relationships/notesSlide" Target="/ppt/notesSlides/notesSlide7.xml" Id="R09364ad35b6341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6da18ad4441cb" /><Relationship Type="http://schemas.openxmlformats.org/officeDocument/2006/relationships/notesSlide" Target="/ppt/notesSlides/notesSlide8.xml" Id="R96536d8a13574e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93F06-511D-4DE4-ADFD-F5540730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61"/>
          </a:solidFill>
          <a:ln xmlns:a="http://schemas.openxmlformats.org/drawingml/2006/main" w="0">
            <a:solidFill>
              <a:srgbClr val="D6FF6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b78e73067430d"/>
          <a:stretch xmlns:a="http://schemas.openxmlformats.org/drawingml/2006/main"/>
        </p:blipFill>
        <p:spPr>
          <a:xfrm xmlns:a="http://schemas.openxmlformats.org/drawingml/2006/main">
            <a:off x="685800" y="535781"/>
            <a:ext cx="2095500" cy="471488"/>
          </a:xfrm>
          <a:prstGeom xmlns:a="http://schemas.openxmlformats.org/drawingml/2006/main" prst="rect">
            <a:avLst/>
          </a:prstGeom>
        </p:spPr>
      </p:pic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CF7307-FECC-4F6E-92F2-28081846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04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800" b="0" i="0">
                <a:solidFill>
                  <a:srgbClr val="FFFEFA"/>
                </a:solidFill>
              </a:defRPr>
            </a:pPr>
            <a:r>
              <a:rPr sz="4800" b="0" i="0">
                <a:solidFill>
                  <a:srgbClr val="FFFEFA"/>
                </a:solidFill>
              </a:rPr>
              <a:t>Turn every SOW promise into proof a client can approve.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958D6-4694-4822-A1EC-8C6D1FB3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EAE6DC"/>
                </a:solidFill>
              </a:defRPr>
            </a:pPr>
            <a:r>
              <a:rPr sz="1800" b="0" i="0">
                <a:solidFill>
                  <a:srgbClr val="EAE6DC"/>
                </a:solidFill>
              </a:rPr>
              <a:t>AI-assisted acceptance evidence for web agencies.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3C8B8-5216-4FF4-BD35-FD70D156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382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2241C"/>
                </a:solidFill>
              </a:defRPr>
            </a:pPr>
            <a:r>
              <a:rPr sz="1125" b="1" i="0">
                <a:solidFill>
                  <a:srgbClr val="12241C"/>
                </a:solidFill>
              </a:rPr>
              <a:t>BLUEPRINT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D5674-F484-4201-B445-84146234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76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925" b="0" i="0">
                <a:solidFill>
                  <a:srgbClr val="12241C"/>
                </a:solidFill>
              </a:defRPr>
            </a:pPr>
            <a:r>
              <a:rPr sz="2925" b="0" i="0">
                <a:solidFill>
                  <a:srgbClr val="12241C"/>
                </a:solidFill>
              </a:rPr>
              <a:t>One SOW.</a:t>
            </a:r>
          </a:p>
          <a:p xmlns:a="http://schemas.openxmlformats.org/drawingml/2006/main">
            <a:pPr algn="ctr">
              <a:buNone/>
              <a:defRPr sz="2925" b="0" i="0">
                <a:solidFill>
                  <a:srgbClr val="12241C"/>
                </a:solidFill>
              </a:defRPr>
            </a:pPr>
            <a:r>
              <a:rPr sz="2925" b="0" i="0">
                <a:solidFill>
                  <a:srgbClr val="12241C"/>
                </a:solidFill>
              </a:rPr>
              <a:t>Six criteria.</a:t>
            </a:r>
          </a:p>
          <a:p xmlns:a="http://schemas.openxmlformats.org/drawingml/2006/main">
            <a:pPr algn="ctr">
              <a:buNone/>
              <a:defRPr sz="2925" b="0" i="0">
                <a:solidFill>
                  <a:srgbClr val="12241C"/>
                </a:solidFill>
              </a:defRPr>
            </a:pPr>
            <a:r>
              <a:rPr sz="2925" b="0" i="0">
                <a:solidFill>
                  <a:srgbClr val="12241C"/>
                </a:solidFill>
              </a:rPr>
              <a:t>One proof chain.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7B725-A829-47AA-970C-065ADA4A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00575"/>
            <a:ext cx="2524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B9105-EC63-4D1F-B055-58F54FF2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012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2241C"/>
                </a:solidFill>
              </a:defRPr>
            </a:pPr>
            <a:r>
              <a:rPr sz="1350" b="1" i="0">
                <a:solidFill>
                  <a:srgbClr val="12241C"/>
                </a:solidFill>
              </a:rPr>
              <a:t>Built and tested July 19–28, 2026</a:t>
            </a:r>
          </a:p>
        </p:txBody>
      </p:sp>
    </p:spTree>
    <p:extLst>
      <p:ext uri="{BB962C8B-B14F-4D97-AF65-F5344CB8AC3E}">
        <p14:creationId xmlns:p14="http://schemas.microsoft.com/office/powerpoint/2010/main" val="2068245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D60C8-06C2-4F1E-81FA-4CF11AF4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GREENLIT · BLUEPRINT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F18D4-713D-4269-A3A8-A47A776C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978862-940C-48C9-A14B-958169CB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33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 i="0">
                <a:solidFill>
                  <a:srgbClr val="12241C"/>
                </a:solidFill>
              </a:defRPr>
            </a:pPr>
            <a:r>
              <a:rPr sz="3600" b="0" i="0">
                <a:solidFill>
                  <a:srgbClr val="12241C"/>
                </a:solidFill>
              </a:rPr>
              <a:t>The work is done. The decision is still scattered.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DD0F4-D507-4D44-8409-D8067E4B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A561C-5D58-458E-9C01-81247857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0" i="0">
                <a:solidFill>
                  <a:srgbClr val="126B46"/>
                </a:solidFill>
              </a:defRPr>
            </a:pPr>
            <a:r>
              <a:rPr sz="2625" b="0" i="0">
                <a:solidFill>
                  <a:srgbClr val="126B4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9BF3F-2BC7-46CD-A94A-9610D418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050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2241C"/>
                </a:solidFill>
              </a:defRPr>
            </a:pPr>
            <a:r>
              <a:rPr sz="1800" b="1" i="0">
                <a:solidFill>
                  <a:srgbClr val="12241C"/>
                </a:solidFill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F1ABF-DE12-4C96-B666-4A878DCA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241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56159"/>
                </a:solidFill>
              </a:defRPr>
            </a:pPr>
            <a:r>
              <a:rPr sz="1575" b="0" i="0">
                <a:solidFill>
                  <a:srgbClr val="556159"/>
                </a:solidFill>
              </a:rPr>
              <a:t>The promise lives in a SOW.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A0E7D-1E70-476B-9509-366C1AF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86100"/>
            <a:ext cx="888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2C8"/>
          </a:solidFill>
          <a:ln xmlns:a="http://schemas.openxmlformats.org/drawingml/2006/main" w="0">
            <a:solidFill>
              <a:srgbClr val="D5D2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B42CB-122C-4B14-9510-71B822CB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0" i="0">
                <a:solidFill>
                  <a:srgbClr val="126B46"/>
                </a:solidFill>
              </a:defRPr>
            </a:pPr>
            <a:r>
              <a:rPr sz="2625" b="0" i="0">
                <a:solidFill>
                  <a:srgbClr val="126B4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6B4BB-4B96-4983-8F25-FDC74BD4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813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2241C"/>
                </a:solidFill>
              </a:defRPr>
            </a:pPr>
            <a:r>
              <a:rPr sz="1800" b="1" i="0">
                <a:solidFill>
                  <a:srgbClr val="12241C"/>
                </a:solidFill>
              </a:rPr>
              <a:t>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69B4E-99E9-4183-909C-26EC07D0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56159"/>
                </a:solidFill>
              </a:defRPr>
            </a:pPr>
            <a:r>
              <a:rPr sz="1575" b="0" i="0">
                <a:solidFill>
                  <a:srgbClr val="556159"/>
                </a:solidFill>
              </a:rPr>
              <a:t>Screenshots and observations live somewhere else.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2A606-682D-456B-8C68-43C358EF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62400"/>
            <a:ext cx="888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2C8"/>
          </a:solidFill>
          <a:ln xmlns:a="http://schemas.openxmlformats.org/drawingml/2006/main" w="0">
            <a:solidFill>
              <a:srgbClr val="D5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910EF-61A8-492B-9DBD-E8D88D08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0" i="0">
                <a:solidFill>
                  <a:srgbClr val="126B46"/>
                </a:solidFill>
              </a:defRPr>
            </a:pPr>
            <a:r>
              <a:rPr sz="2625" b="0" i="0">
                <a:solidFill>
                  <a:srgbClr val="126B4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DC460-7DBA-496F-A1B3-97DFD1D0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576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2241C"/>
                </a:solidFill>
              </a:defRPr>
            </a:pPr>
            <a:r>
              <a:rPr sz="1800" b="1" i="0">
                <a:solidFill>
                  <a:srgbClr val="12241C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56FAF-2B33-450F-ACEB-B5A410FA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767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56159"/>
                </a:solidFill>
              </a:defRPr>
            </a:pPr>
            <a:r>
              <a:rPr sz="1575" b="0" i="0">
                <a:solidFill>
                  <a:srgbClr val="556159"/>
                </a:solidFill>
              </a:rPr>
              <a:t>Approval gets buried in email or chat.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7CF2F-C2C9-4DB4-BB8C-E400E221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38700"/>
            <a:ext cx="888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2C8"/>
          </a:solidFill>
          <a:ln xmlns:a="http://schemas.openxmlformats.org/drawingml/2006/main" w="0">
            <a:solidFill>
              <a:srgbClr val="D5D2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55A0E-D753-4792-B18D-E4871545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0" i="0">
                <a:solidFill>
                  <a:srgbClr val="126B46"/>
                </a:solidFill>
              </a:defRPr>
            </a:pPr>
            <a:r>
              <a:rPr sz="2625" b="0" i="0">
                <a:solidFill>
                  <a:srgbClr val="126B46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1CC09-53FF-484A-90EC-12F95EA5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339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2241C"/>
                </a:solidFill>
              </a:defRPr>
            </a:pPr>
            <a:r>
              <a:rPr sz="1800" b="1" i="0">
                <a:solidFill>
                  <a:srgbClr val="12241C"/>
                </a:solidFill>
              </a:rPr>
              <a:t>Billing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E0921-C599-4DAF-B109-8983A516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530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56159"/>
                </a:solidFill>
              </a:defRPr>
            </a:pPr>
            <a:r>
              <a:rPr sz="1575" b="0" i="0">
                <a:solidFill>
                  <a:srgbClr val="556159"/>
                </a:solidFill>
              </a:rPr>
              <a:t>The invoice handoff loses the evidence trail.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65135-7AE4-4556-BCF7-3CA644E0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029325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126B46"/>
                </a:solidFill>
              </a:defRPr>
            </a:pPr>
            <a:r>
              <a:rPr sz="1500" b="1" i="0">
                <a:solidFill>
                  <a:srgbClr val="126B46"/>
                </a:solidFill>
              </a:rPr>
              <a:t>Greenlit’s job is to keep those four moments connected.</a:t>
            </a:r>
          </a:p>
        </p:txBody>
      </p:sp>
    </p:spTree>
    <p:extLst>
      <p:ext uri="{BB962C8B-B14F-4D97-AF65-F5344CB8AC3E}">
        <p14:creationId xmlns:p14="http://schemas.microsoft.com/office/powerpoint/2010/main" val="1225916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35102-E16A-4E06-9982-B70A1761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GREENLIT · BLUEPRINT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176EF-EC10-4E68-ADE5-BB51577D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6EEA3E-2085-47B9-9BE9-77824480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 i="0">
                <a:solidFill>
                  <a:srgbClr val="12241C"/>
                </a:solidFill>
              </a:defRPr>
            </a:pPr>
            <a:r>
              <a:rPr sz="3600" b="0" i="0">
                <a:solidFill>
                  <a:srgbClr val="12241C"/>
                </a:solidFill>
              </a:rPr>
              <a:t>One evidence chain replaces the handoff gap.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7E1D9-3953-439E-B385-A1B2E349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28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0" i="0">
                <a:solidFill>
                  <a:srgbClr val="AFD12F"/>
                </a:solidFill>
              </a:defRPr>
            </a:pPr>
            <a:r>
              <a:rPr sz="5250" b="0" i="0">
                <a:solidFill>
                  <a:srgbClr val="AFD12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40A84-04DB-4C69-B5D7-B61DE46A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F349B-DE3E-4EA0-855F-8BE45AB7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2241C"/>
                </a:solidFill>
              </a:defRPr>
            </a:pPr>
            <a:r>
              <a:rPr sz="2025" b="1" i="0">
                <a:solidFill>
                  <a:srgbClr val="12241C"/>
                </a:solidFill>
              </a:rPr>
              <a:t>Confirm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9A960-81EB-441E-A44D-C1FE2E8D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56159"/>
                </a:solidFill>
              </a:defRPr>
            </a:pPr>
            <a:r>
              <a:rPr sz="1350" b="0" i="0">
                <a:solidFill>
                  <a:srgbClr val="556159"/>
                </a:solidFill>
              </a:rPr>
              <a:t>Exact SOW language becomes human-confirmed acceptance criteria.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C3263-16D8-41B7-8DE6-451258E9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5750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26B46"/>
                </a:solidFill>
              </a:defRPr>
            </a:pPr>
            <a:r>
              <a:rPr sz="2400" b="1" i="0">
                <a:solidFill>
                  <a:srgbClr val="126B4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F5186-DE14-4D0C-A620-9DFA8814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628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0" i="0">
                <a:solidFill>
                  <a:srgbClr val="AFD12F"/>
                </a:solidFill>
              </a:defRPr>
            </a:pPr>
            <a:r>
              <a:rPr sz="5250" b="0" i="0">
                <a:solidFill>
                  <a:srgbClr val="AFD12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F95F0-7B6E-4991-8A5F-1ED7228B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37D4-5CC2-4DF0-86F7-314AAAC3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19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2241C"/>
                </a:solidFill>
              </a:defRPr>
            </a:pPr>
            <a:r>
              <a:rPr sz="2025" b="1" i="0">
                <a:solidFill>
                  <a:srgbClr val="12241C"/>
                </a:solidFill>
              </a:rPr>
              <a:t>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8D5A6-40C8-45DC-857C-E4D84A8F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148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56159"/>
                </a:solidFill>
              </a:defRPr>
            </a:pPr>
            <a:r>
              <a:rPr sz="1350" b="0" i="0">
                <a:solidFill>
                  <a:srgbClr val="556159"/>
                </a:solidFill>
              </a:rPr>
              <a:t>Typed browser checks inspect an authorized staging build.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DCF95-5DEE-4FE8-905E-D1132BB5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26B46"/>
                </a:solidFill>
              </a:defRPr>
            </a:pPr>
            <a:r>
              <a:rPr sz="2400" b="1" i="0">
                <a:solidFill>
                  <a:srgbClr val="126B4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52F4F-98AA-4C1D-A8E4-D9B5EC00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628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0" i="0">
                <a:solidFill>
                  <a:srgbClr val="126B46"/>
                </a:solidFill>
              </a:defRPr>
            </a:pPr>
            <a:r>
              <a:rPr sz="5250" b="0" i="0">
                <a:solidFill>
                  <a:srgbClr val="126B46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AF01D-4D3B-4556-8E45-A0C7938B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6"/>
          </a:solidFill>
          <a:ln xmlns:a="http://schemas.openxmlformats.org/drawingml/2006/main" w="0">
            <a:solidFill>
              <a:srgbClr val="126B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7E517-4EFA-4EBE-971E-A873FE66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2241C"/>
                </a:solidFill>
              </a:defRPr>
            </a:pPr>
            <a:r>
              <a:rPr sz="2025" b="1" i="0">
                <a:solidFill>
                  <a:srgbClr val="12241C"/>
                </a:solidFill>
              </a:rPr>
              <a:t>Decide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04965-C345-4364-8DE5-EC23C2A4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56159"/>
                </a:solidFill>
              </a:defRPr>
            </a:pPr>
            <a:r>
              <a:rPr sz="1350" b="0" i="0">
                <a:solidFill>
                  <a:srgbClr val="556159"/>
                </a:solidFill>
              </a:rPr>
              <a:t>One named reviewer sees the promise, result, evidence, and deadline.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E9594-0759-4C30-B2D5-88747D30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26B46"/>
                </a:solidFill>
              </a:defRPr>
            </a:pPr>
            <a:r>
              <a:rPr sz="2400" b="1" i="0">
                <a:solidFill>
                  <a:srgbClr val="126B4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7D690-D188-4A5C-B2F2-7141C689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628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0" i="0">
                <a:solidFill>
                  <a:srgbClr val="AFD12F"/>
                </a:solidFill>
              </a:defRPr>
            </a:pPr>
            <a:r>
              <a:rPr sz="5250" b="0" i="0">
                <a:solidFill>
                  <a:srgbClr val="AFD12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6D7763-A013-4F85-A5DB-2A242BCF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0E32D-497C-4195-A7B8-6C1DFABB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19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2241C"/>
                </a:solidFill>
              </a:defRPr>
            </a:pPr>
            <a:r>
              <a:rPr sz="2025" b="1" i="0">
                <a:solidFill>
                  <a:srgbClr val="12241C"/>
                </a:solidFill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C8E4E-B29E-41AB-9FED-83725DB4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148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56159"/>
                </a:solidFill>
              </a:defRPr>
            </a:pPr>
            <a:r>
              <a:rPr sz="1350" b="0" i="0">
                <a:solidFill>
                  <a:srgbClr val="556159"/>
                </a:solidFill>
              </a:rPr>
              <a:t>The decision and invoice-ready context stay attached.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0982D-6FF5-4C5D-B701-2CFD04F0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820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57C7D-F805-4BE3-BD1A-10BDD9F5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57875"/>
            <a:ext cx="1024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EFA"/>
                </a:solidFill>
              </a:defRPr>
            </a:pPr>
            <a:r>
              <a:rPr sz="1650" b="1" i="0">
                <a:solidFill>
                  <a:srgbClr val="FFFEFA"/>
                </a:solidFill>
              </a:rPr>
              <a:t>AI drafts. The agency confirms. The browser observes. The client decides.</a:t>
            </a:r>
          </a:p>
        </p:txBody>
      </p:sp>
    </p:spTree>
    <p:extLst>
      <p:ext uri="{BB962C8B-B14F-4D97-AF65-F5344CB8AC3E}">
        <p14:creationId xmlns:p14="http://schemas.microsoft.com/office/powerpoint/2010/main" val="1938775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C3FFF-ABE9-4A24-B7F0-815E1337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GREENLIT · BLUEPRINT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37F83-DD51-4006-8E8B-02B9660C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F0EB57-76D8-4C8D-A926-5520BDF1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 i="0">
                <a:solidFill>
                  <a:srgbClr val="12241C"/>
                </a:solidFill>
              </a:defRPr>
            </a:pPr>
            <a:r>
              <a:rPr sz="3600" b="0" i="0">
                <a:solidFill>
                  <a:srgbClr val="12241C"/>
                </a:solidFill>
              </a:rPr>
              <a:t>A polished success message is not proof.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114B2-C000-48C6-8159-B632962F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56159"/>
                </a:solidFill>
              </a:defRPr>
            </a:pPr>
            <a:r>
              <a:rPr sz="1650" b="0" i="0">
                <a:solidFill>
                  <a:srgbClr val="556159"/>
                </a:solidFill>
              </a:rPr>
              <a:t>The synthetic release candidate looks successful, while the underlying request fails. Greenlit keeps the observed failure attached to the frozen promise.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5C9DA-8577-47D2-8A1B-2A04D1E4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000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B"/>
          </a:solidFill>
          <a:ln xmlns:a="http://schemas.openxmlformats.org/drawingml/2006/main" w="19050">
            <a:solidFill>
              <a:srgbClr val="B63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C1AE4-2C15-4A10-A0F7-CE65EEE0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B63F3A"/>
                </a:solidFill>
              </a:defRPr>
            </a:pPr>
            <a:r>
              <a:rPr sz="1275" b="1" i="0">
                <a:solidFill>
                  <a:srgbClr val="B63F3A"/>
                </a:solidFill>
              </a:rPr>
              <a:t>AC-04 · NEEDS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22F1E-1975-4133-9FC1-9F3E071B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241C"/>
                </a:solidFill>
              </a:defRPr>
            </a:pPr>
            <a:r>
              <a:rPr sz="1275" b="0" i="0">
                <a:solidFill>
                  <a:srgbClr val="12241C"/>
                </a:solidFill>
              </a:rPr>
              <a:t>Visible confirmation contradicted the HTTP 500 response.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01cf4251e468e"/>
          <a:srcRect xmlns:a="http://schemas.openxmlformats.org/drawingml/2006/main" l="0" t="1064" r="0" b="10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125" y="2238375"/>
            <a:ext cx="6315075" cy="3476625"/>
          </a:xfrm>
          <a:prstGeom xmlns:a="http://schemas.openxmlformats.org/drawingml/2006/main" prst="roundRect">
            <a:avLst>
              <a:gd name="adj" fmla="val 219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8CB14-00C5-4E9B-9530-8CC918B2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67400"/>
            <a:ext cx="6315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 i="0">
                <a:solidFill>
                  <a:srgbClr val="556159"/>
                </a:solidFill>
              </a:defRPr>
            </a:pPr>
            <a:r>
              <a:rPr sz="1125" b="0" i="0">
                <a:solidFill>
                  <a:srgbClr val="556159"/>
                </a:solidFill>
              </a:rPr>
              <a:t>Synthetic fixture · presentation evidence, not a retained runner artifact</a:t>
            </a:r>
          </a:p>
        </p:txBody>
      </p:sp>
    </p:spTree>
    <p:extLst>
      <p:ext uri="{BB962C8B-B14F-4D97-AF65-F5344CB8AC3E}">
        <p14:creationId xmlns:p14="http://schemas.microsoft.com/office/powerpoint/2010/main" val="4010653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BF8B6-4548-4C48-AD1F-DD4C25F7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GREENLIT · BLUEPRINT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59289-3BED-4C62-8DC6-76BEB820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AF97CA-989A-4873-AA9C-2A80FF13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 i="0">
                <a:solidFill>
                  <a:srgbClr val="12241C"/>
                </a:solidFill>
              </a:defRPr>
            </a:pPr>
            <a:r>
              <a:rPr sz="3600" b="0" i="0">
                <a:solidFill>
                  <a:srgbClr val="12241C"/>
                </a:solidFill>
              </a:rPr>
              <a:t>The client sees the promise—not a test dashboard.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b970ac8b942aa"/>
          <a:srcRect xmlns:a="http://schemas.openxmlformats.org/drawingml/2006/main" l="112" t="0" r="1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7096125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42B97-CFB7-4A3E-BAED-2FDD871A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41C"/>
                </a:solidFill>
              </a:defRPr>
            </a:pPr>
            <a:r>
              <a:rPr sz="1875" b="1" i="0">
                <a:solidFill>
                  <a:srgbClr val="12241C"/>
                </a:solidFill>
              </a:rPr>
              <a:t>Exact source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EB7A9-1E77-4649-99BF-C6AE5222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41C"/>
                </a:solidFill>
              </a:defRPr>
            </a:pPr>
            <a:r>
              <a:rPr sz="1875" b="1" i="0">
                <a:solidFill>
                  <a:srgbClr val="12241C"/>
                </a:solidFill>
              </a:rPr>
              <a:t>Expected and observed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36467-596D-4780-835A-0F118F1D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195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41C"/>
                </a:solidFill>
              </a:defRPr>
            </a:pPr>
            <a:r>
              <a:rPr sz="1875" b="1" i="0">
                <a:solidFill>
                  <a:srgbClr val="12241C"/>
                </a:solidFill>
              </a:rPr>
              <a:t>Evidence and deadline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EEBD9-55AA-4FA9-8E7C-6696D76F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292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6B46"/>
                </a:solidFill>
              </a:defRPr>
            </a:pPr>
            <a:r>
              <a:rPr sz="1875" b="1" i="0">
                <a:solidFill>
                  <a:srgbClr val="126B46"/>
                </a:solidFill>
              </a:rPr>
              <a:t>Approve or request changes</a:t>
            </a:r>
          </a:p>
        </p:txBody>
      </p:sp>
    </p:spTree>
    <p:extLst>
      <p:ext uri="{BB962C8B-B14F-4D97-AF65-F5344CB8AC3E}">
        <p14:creationId xmlns:p14="http://schemas.microsoft.com/office/powerpoint/2010/main" val="526763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A5F94-CC59-4C40-8891-0725111B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GREENLIT · BLUEPRINT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3F5B3-0AED-4966-8CBB-9BFD820E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06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0B1300-8477-4AB0-81C6-926377F8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 i="0">
                <a:solidFill>
                  <a:srgbClr val="12241C"/>
                </a:solidFill>
              </a:defRPr>
            </a:pPr>
            <a:r>
              <a:rPr sz="3600" b="0" i="0">
                <a:solidFill>
                  <a:srgbClr val="12241C"/>
                </a:solidFill>
              </a:rPr>
              <a:t>The decision becomes an invoice-ready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2DB63-3C7F-41A7-85D8-A105AEA2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762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56159"/>
                </a:solidFill>
              </a:defRPr>
            </a:pPr>
            <a:r>
              <a:rPr sz="1650" b="0" i="0">
                <a:solidFill>
                  <a:srgbClr val="556159"/>
                </a:solidFill>
              </a:rPr>
              <a:t>One retained view connects the milestone value, frozen revision, observed build, named decision, and print-ready receipt.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7A9A6-211C-45E9-A278-81A84428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26B46"/>
                </a:solidFill>
              </a:defRPr>
            </a:pPr>
            <a:r>
              <a:rPr sz="1650" b="1" i="0">
                <a:solidFill>
                  <a:srgbClr val="126B46"/>
                </a:solidFill>
              </a:rPr>
              <a:t>What it 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87311-DE97-4045-96C7-843810D3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762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2241C"/>
                </a:solidFill>
              </a:defRPr>
            </a:pPr>
            <a:r>
              <a:rPr sz="1425" b="0" i="0">
                <a:solidFill>
                  <a:srgbClr val="12241C"/>
                </a:solidFill>
              </a:rPr>
              <a:t>A business approval record and billing handoff.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D6CDE-5952-420E-8166-38EF23FF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B63F3A"/>
                </a:solidFill>
              </a:defRPr>
            </a:pPr>
            <a:r>
              <a:rPr sz="1650" b="1" i="0">
                <a:solidFill>
                  <a:srgbClr val="B63F3A"/>
                </a:solidFill>
              </a:rPr>
              <a:t>What it is not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648C0-B7D2-4BA5-BE6A-8EA84AB4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3762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2241C"/>
                </a:solidFill>
              </a:defRPr>
            </a:pPr>
            <a:r>
              <a:rPr sz="1425" b="0" i="0">
                <a:solidFill>
                  <a:srgbClr val="12241C"/>
                </a:solidFill>
              </a:rPr>
              <a:t>A signature product, certification, ledger, or payment guarantee.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c6178e0d74af8"/>
          <a:srcRect xmlns:a="http://schemas.openxmlformats.org/drawingml/2006/main" l="9428" t="0" r="94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1666875"/>
            <a:ext cx="6457950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</p:spTree>
    <p:extLst>
      <p:ext uri="{BB962C8B-B14F-4D97-AF65-F5344CB8AC3E}">
        <p14:creationId xmlns:p14="http://schemas.microsoft.com/office/powerpoint/2010/main" val="20826490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D90CA-C3CF-4EF4-A29B-AB875418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EFA"/>
                </a:solidFill>
              </a:defRPr>
            </a:pPr>
            <a:r>
              <a:rPr sz="975" b="1" i="0">
                <a:solidFill>
                  <a:srgbClr val="FFFEFA"/>
                </a:solidFill>
              </a:rPr>
              <a:t>GREENLIT · BLUEPRINT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3BA42-6E95-4119-B03C-20257847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FFFEFA"/>
                </a:solidFill>
              </a:defRPr>
            </a:pPr>
            <a:r>
              <a:rPr sz="975" b="1" i="0">
                <a:solidFill>
                  <a:srgbClr val="FFFEFA"/>
                </a:solidFill>
              </a:rPr>
              <a:t>07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E2E1EE-B999-40F9-8089-EF02611F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096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 i="0">
                <a:solidFill>
                  <a:srgbClr val="FFFEFA"/>
                </a:solidFill>
              </a:defRPr>
            </a:pPr>
            <a:r>
              <a:rPr sz="3750" b="0" i="0">
                <a:solidFill>
                  <a:srgbClr val="FFFEFA"/>
                </a:solidFill>
              </a:rPr>
              <a:t>AI drafts. Humans decide.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4DDFF-F373-43EB-8DC8-86A1F524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D6FF61"/>
                </a:solidFill>
              </a:defRPr>
            </a:pPr>
            <a:r>
              <a:rPr sz="1200" b="1" i="0">
                <a:solidFill>
                  <a:srgbClr val="D6FF61"/>
                </a:solidFill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C1123-1665-4E8F-BCE8-D36FF0E8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Next.js on Vercel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Gemini + Zod extraction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Cloudflare Queue + browser worker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Supabase storage + RLS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71B27-4CFB-4D0C-93E8-7961C579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43125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6159"/>
          </a:solidFill>
          <a:ln xmlns:a="http://schemas.openxmlformats.org/drawingml/2006/main" w="0">
            <a:solidFill>
              <a:srgbClr val="5561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74CFF-5BA5-475D-B634-743F5A97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D6FF61"/>
                </a:solidFill>
              </a:defRPr>
            </a:pPr>
            <a:r>
              <a:rPr sz="1200" b="1" i="0">
                <a:solidFill>
                  <a:srgbClr val="D6FF61"/>
                </a:solidFill>
              </a:rPr>
              <a:t>TRUST BOUNDARIES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C9D00-B8E1-4669-9FA0-862523CA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Human-confirmed criteria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Typed, allowlisted checks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HMAC-signed jobs and callbacks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Private evidence with expiry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7F2FC-F18F-4E9C-9381-D70709D3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648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61"/>
          </a:solidFill>
          <a:ln xmlns:a="http://schemas.openxmlformats.org/drawingml/2006/main" w="0">
            <a:solidFill>
              <a:srgbClr val="D6FF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E8753-6AEA-4360-9953-1A4EC71C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388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2241C"/>
                </a:solidFill>
              </a:defRPr>
            </a:pPr>
            <a:r>
              <a:rPr sz="1425" b="1" i="0">
                <a:solidFill>
                  <a:srgbClr val="12241C"/>
                </a:solidFill>
              </a:rPr>
              <a:t>Stateless web tier · queued runners · frozen contracts keep the path scalable and repeatable</a:t>
            </a:r>
          </a:p>
        </p:txBody>
      </p:sp>
    </p:spTree>
    <p:extLst>
      <p:ext uri="{BB962C8B-B14F-4D97-AF65-F5344CB8AC3E}">
        <p14:creationId xmlns:p14="http://schemas.microsoft.com/office/powerpoint/2010/main" val="2096210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6FF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5ADB57A8-EF96-4A8F-8EDE-0D12F535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52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0" i="0">
                <a:solidFill>
                  <a:srgbClr val="12241C"/>
                </a:solidFill>
              </a:defRPr>
            </a:pPr>
            <a:r>
              <a:rPr sz="4200" b="0" i="0">
                <a:solidFill>
                  <a:srgbClr val="12241C"/>
                </a:solidFill>
              </a:rPr>
              <a:t>Built during the hackathon, tested end to end.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B7056-6787-4277-B8F0-F6B0F3C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65D1D-5B0B-43EB-875B-4753DBF2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41C"/>
                </a:solidFill>
              </a:defRPr>
            </a:pPr>
            <a:r>
              <a:rPr sz="1875" b="1" i="0">
                <a:solidFill>
                  <a:srgbClr val="12241C"/>
                </a:solidFill>
              </a:rPr>
              <a:t>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9F02F-2E21-4A09-B7E8-06D9D418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00375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2241C"/>
                </a:solidFill>
              </a:defRPr>
            </a:pPr>
            <a:r>
              <a:rPr sz="1725" b="0" i="0">
                <a:solidFill>
                  <a:srgbClr val="12241C"/>
                </a:solidFill>
              </a:rPr>
              <a:t>64 commits since July 19; a complete agency-to-client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BC96C-93B1-48DD-9E06-2F57DCC4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41C"/>
                </a:solidFill>
              </a:defRPr>
            </a:pPr>
            <a:r>
              <a:rPr sz="1875" b="1" i="0">
                <a:solidFill>
                  <a:srgbClr val="12241C"/>
                </a:solidFill>
              </a:rPr>
              <a:t>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1BEDA-86E1-412A-AECA-3DAB52FA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29050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2241C"/>
                </a:solidFill>
              </a:defRPr>
            </a:pPr>
            <a:r>
              <a:rPr sz="1725" b="0" i="0">
                <a:solidFill>
                  <a:srgbClr val="12241C"/>
                </a:solidFill>
              </a:rPr>
              <a:t>245 automated tests and 128 end-to-end checks passed.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E575D-6E25-4C9E-BF86-AF087103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41C"/>
                </a:solidFill>
              </a:defRPr>
            </a:pPr>
            <a:r>
              <a:rPr sz="1875" b="1" i="0">
                <a:solidFill>
                  <a:srgbClr val="12241C"/>
                </a:solidFill>
              </a:rPr>
              <a:t>Explore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F2607-D16D-4983-B798-BC2811D8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57725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2241C"/>
                </a:solidFill>
              </a:defRPr>
            </a:pPr>
            <a:r>
              <a:rPr sz="1725" b="0" i="0">
                <a:solidFill>
                  <a:srgbClr val="12241C"/>
                </a:solidFill>
              </a:rPr>
              <a:t>Live product, source code, architecture, and demo 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6DBE4-9CCF-4F30-9954-43952720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771F8-7EB1-4377-BE32-2B5CF559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72150"/>
            <a:ext cx="702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FFFEFA"/>
                </a:solidFill>
              </a:defRPr>
            </a:pPr>
            <a:r>
              <a:rPr sz="1725" b="1" i="0">
                <a:solidFill>
                  <a:srgbClr val="FFFEFA"/>
                </a:solidFill>
              </a:rPr>
              <a:t>greenlitproof.vercel.app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38849-F9A3-42B4-A240-919C2522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657850"/>
            <a:ext cx="2790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2241C"/>
                </a:solidFill>
              </a:defRPr>
            </a:pPr>
            <a:r>
              <a:rPr sz="1275" b="1" i="0">
                <a:solidFill>
                  <a:srgbClr val="12241C"/>
                </a:solidFill>
              </a:rPr>
              <a:t>GitHub repository:</a:t>
            </a:r>
          </a:p>
          <a:p xmlns:a="http://schemas.openxmlformats.org/drawingml/2006/main">
            <a:pPr algn="r">
              <a:buNone/>
              <a:defRPr sz="1275" b="1" i="0">
                <a:solidFill>
                  <a:srgbClr val="12241C"/>
                </a:solidFill>
              </a:defRPr>
            </a:pPr>
            <a:r>
              <a:rPr sz="1275" b="1" i="0">
                <a:solidFill>
                  <a:srgbClr val="12241C"/>
                </a:solidFill>
              </a:rPr>
              <a:t>anayagarwalla-ai/milestoneproof</a:t>
            </a:r>
          </a:p>
        </p:txBody>
      </p:sp>
    </p:spTree>
    <p:extLst>
      <p:ext uri="{BB962C8B-B14F-4D97-AF65-F5344CB8AC3E}">
        <p14:creationId xmlns:p14="http://schemas.microsoft.com/office/powerpoint/2010/main" val="531488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2026-07-28T20:52:06.7480000Z</dcterms:created>
  <dcterms:modified xsi:type="dcterms:W3CDTF">2026-07-28T20:52:06.7480000Z</dcterms:modified>
</coreProperties>
</file>