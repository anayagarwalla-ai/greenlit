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Internal product narrative: docs/DEVPOST_SUBMISSION.md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Greenlit logo and visual assets: project-owned source deck.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Product problem and workflow: docs/DEVPOST_SUBMISSION.md.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Product workflow and trust model: docs/DEVPOST_SUBMISSION.md and docs/ARCHITECTURE.md.</a:t>
            </a:r>
            <a:endParaRPr/>
          </a:p>
        </p:txBody>
      </p:sp>
      <p:sp>
        <p:nvSpPr>
          <p:cNvPr id="52" name="Google Shape;52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market_s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0" name="Google Shape;80;market_s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U.S. Census Bureau, 2023 County Business Patterns national file: https://www2.census.gov/programs-surveys/cbp/datasets/2023/cbp23us.zip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NAICS categories used: 541511, 541430, and 541810.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Target-user rationale: README.md and docs/DEVPOST_SUBMISSION.md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market_s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2" name="Google Shape;102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Synthetic failure scenario and product screenshot: docs/JUDGE_DEMO.md and project-owned Greenlit walkthrough.</a:t>
            </a:r>
            <a:endParaRPr/>
          </a:p>
        </p:txBody>
      </p:sp>
      <p:sp>
        <p:nvSpPr>
          <p:cNvPr id="103" name="Google Shape;103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Synthetic client-review screenshot and workflow: docs/JUDGE_DEMO.md and project-owned Greenlit walkthrough.</a:t>
            </a:r>
            <a:endParaRPr/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Synthetic approval-record screenshot and scope boundaries: docs/DEVPOST_SUBMISSION.md and project-owned Greenlit walkthrough.</a:t>
            </a:r>
            <a:endParaRPr/>
          </a:p>
        </p:txBody>
      </p:sp>
      <p:sp>
        <p:nvSpPr>
          <p:cNvPr id="130" name="Google Shape;13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arch_s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3" name="Google Shape;143;arch_s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Internal system architecture: docs/ARCHITECTURE.md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Implementation summary: README.md and docs/DEVPOST_SUBMISSION.md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arch_s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4" name="Google Shape;184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Trust boundaries and data flow: docs/ARCHITECTURE.md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- Privacy and operational controls: README.md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3" name="Google Shape;213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[Sources]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Commit count and dates: Git history through release commit 4dd64b2.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Validation counts: current release test and Playwright results executed July 28, 2026.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/>
              <a:t>- Live and source URLs: docs/DEVPOST_SUBMISSION.md.</a:t>
            </a:r>
            <a:endParaRPr/>
          </a:p>
        </p:txBody>
      </p:sp>
      <p:sp>
        <p:nvSpPr>
          <p:cNvPr id="214" name="Google Shape;214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558800" y="304800"/>
            <a:ext cx="2362200" cy="711300"/>
          </a:xfrm>
          <a:prstGeom prst="roundRect">
            <a:avLst>
              <a:gd fmla="val 16667" name="adj"/>
            </a:avLst>
          </a:prstGeom>
          <a:solidFill>
            <a:srgbClr val="12241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8334375" y="0"/>
            <a:ext cx="3857625" cy="6858000"/>
          </a:xfrm>
          <a:prstGeom prst="rect">
            <a:avLst/>
          </a:prstGeom>
          <a:solidFill>
            <a:srgbClr val="DCE8DF"/>
          </a:solidFill>
          <a:ln cap="flat" cmpd="sng" w="9525">
            <a:solidFill>
              <a:srgbClr val="DCE8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8" name="Google Shape;1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2150" y="424706"/>
            <a:ext cx="2095500" cy="471488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685800" y="1952625"/>
            <a:ext cx="704850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EFA"/>
              </a:buClr>
              <a:buSzPts val="4800"/>
              <a:buFont typeface="Arial"/>
              <a:buNone/>
            </a:pPr>
            <a:r>
              <a:rPr i="0" lang="en-US" sz="4800">
                <a:solidFill>
                  <a:srgbClr val="12241C"/>
                </a:solidFill>
              </a:rPr>
              <a:t>Turn every SOW promise into proof a client can approve.</a:t>
            </a:r>
            <a:endParaRPr>
              <a:solidFill>
                <a:srgbClr val="12241C"/>
              </a:solidFill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723900" y="4810125"/>
            <a:ext cx="59055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AE6DC"/>
              </a:buClr>
              <a:buSzPts val="1800"/>
              <a:buFont typeface="Arial"/>
              <a:buNone/>
            </a:pPr>
            <a:r>
              <a:rPr i="0" lang="en-US" sz="1800">
                <a:solidFill>
                  <a:srgbClr val="56655D"/>
                </a:solidFill>
              </a:rPr>
              <a:t>For web agencies that need a clear approval trail.</a:t>
            </a:r>
            <a:endParaRPr>
              <a:solidFill>
                <a:srgbClr val="56655D"/>
              </a:solidFill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8858250" y="1238250"/>
            <a:ext cx="280987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125"/>
              <a:buFont typeface="Arial"/>
              <a:buNone/>
            </a:pPr>
            <a:r>
              <a:rPr i="0" lang="en-US" sz="1125">
                <a:solidFill>
                  <a:srgbClr val="12241C"/>
                </a:solidFill>
              </a:rPr>
              <a:t>BLUEPRINT HACKATHON</a:t>
            </a:r>
            <a:endParaRPr/>
          </a:p>
        </p:txBody>
      </p:sp>
      <p:sp>
        <p:nvSpPr>
          <p:cNvPr id="22" name="Google Shape;22;p3"/>
          <p:cNvSpPr/>
          <p:nvPr/>
        </p:nvSpPr>
        <p:spPr>
          <a:xfrm>
            <a:off x="8524875" y="2238375"/>
            <a:ext cx="3476625" cy="1666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2925"/>
              <a:buFont typeface="Arial"/>
              <a:buNone/>
            </a:pPr>
            <a:r>
              <a:rPr i="0" lang="en-US" sz="2925">
                <a:solidFill>
                  <a:srgbClr val="12241C"/>
                </a:solidFill>
              </a:rPr>
              <a:t>One </a:t>
            </a:r>
            <a:r>
              <a:rPr lang="en-US" sz="2925">
                <a:solidFill>
                  <a:srgbClr val="12241C"/>
                </a:solidFill>
              </a:rPr>
              <a:t>Statement of Work (SOW)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2925"/>
              <a:buFont typeface="Arial"/>
              <a:buNone/>
            </a:pPr>
            <a:r>
              <a:rPr lang="en-US" sz="2925">
                <a:solidFill>
                  <a:srgbClr val="12241C"/>
                </a:solidFill>
              </a:rPr>
              <a:t>S</a:t>
            </a:r>
            <a:r>
              <a:rPr i="0" lang="en-US" sz="2925">
                <a:solidFill>
                  <a:srgbClr val="12241C"/>
                </a:solidFill>
              </a:rPr>
              <a:t>ix clear checks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2925"/>
              <a:buFont typeface="Arial"/>
              <a:buNone/>
            </a:pPr>
            <a:r>
              <a:rPr lang="en-US" sz="2925">
                <a:solidFill>
                  <a:srgbClr val="12241C"/>
                </a:solidFill>
              </a:rPr>
              <a:t>O</a:t>
            </a:r>
            <a:r>
              <a:rPr i="0" lang="en-US" sz="2925">
                <a:solidFill>
                  <a:srgbClr val="12241C"/>
                </a:solidFill>
              </a:rPr>
              <a:t>ne approval trail</a:t>
            </a: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858250" y="4600575"/>
            <a:ext cx="2809875" cy="28575"/>
          </a:xfrm>
          <a:prstGeom prst="rect">
            <a:avLst/>
          </a:prstGeom>
          <a:solidFill>
            <a:srgbClr val="12241C"/>
          </a:solidFill>
          <a:ln cap="flat" cmpd="sng" w="9525">
            <a:solidFill>
              <a:srgbClr val="1224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685800" y="361950"/>
            <a:ext cx="2952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i="0" lang="en-US" sz="975">
                <a:solidFill>
                  <a:srgbClr val="556159"/>
                </a:solidFill>
              </a:rPr>
              <a:t>GREENLIT · BLUEPRINT 2026</a:t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56655D"/>
                </a:solidFill>
              </a:rPr>
              <a:t>02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685800" y="1000125"/>
            <a:ext cx="9334500" cy="11620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3600"/>
              <a:buFont typeface="Arial"/>
              <a:buNone/>
            </a:pPr>
            <a:r>
              <a:rPr i="0" lang="en-US" sz="3600">
                <a:solidFill>
                  <a:srgbClr val="12241C"/>
                </a:solidFill>
              </a:rPr>
              <a:t>The work may be finished, but the approval trail is scattered.</a:t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685800" y="2238375"/>
            <a:ext cx="10820400" cy="19050"/>
          </a:xfrm>
          <a:prstGeom prst="rect">
            <a:avLst/>
          </a:prstGeom>
          <a:solidFill>
            <a:srgbClr val="12241C"/>
          </a:solidFill>
          <a:ln cap="flat" cmpd="sng" w="9525">
            <a:solidFill>
              <a:srgbClr val="1224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685800" y="2476500"/>
            <a:ext cx="6858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2625"/>
              <a:buFont typeface="Arial"/>
              <a:buNone/>
            </a:pPr>
            <a:r>
              <a:rPr i="0" lang="en-US" sz="2625">
                <a:solidFill>
                  <a:srgbClr val="126B46"/>
                </a:solidFill>
              </a:rPr>
              <a:t>01</a:t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1666875" y="2505075"/>
            <a:ext cx="1714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00"/>
              <a:buFont typeface="Arial"/>
              <a:buNone/>
            </a:pPr>
            <a:r>
              <a:rPr i="0" lang="en-US" sz="1800">
                <a:solidFill>
                  <a:srgbClr val="12241C"/>
                </a:solidFill>
              </a:rPr>
              <a:t>Scope</a:t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3714750" y="2524125"/>
            <a:ext cx="67627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575"/>
              <a:buFont typeface="Arial"/>
              <a:buNone/>
            </a:pPr>
            <a:r>
              <a:rPr i="0" lang="en-US" sz="1575">
                <a:solidFill>
                  <a:srgbClr val="556159"/>
                </a:solidFill>
              </a:rPr>
              <a:t>The promise starts in the SOW.</a:t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1666875" y="3086100"/>
            <a:ext cx="8886825" cy="9525"/>
          </a:xfrm>
          <a:prstGeom prst="rect">
            <a:avLst/>
          </a:prstGeom>
          <a:solidFill>
            <a:srgbClr val="D5D2C8"/>
          </a:solidFill>
          <a:ln cap="flat" cmpd="sng" w="9525">
            <a:solidFill>
              <a:srgbClr val="D5D2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685800" y="3352800"/>
            <a:ext cx="6858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2625"/>
              <a:buFont typeface="Arial"/>
              <a:buNone/>
            </a:pPr>
            <a:r>
              <a:rPr i="0" lang="en-US" sz="2625">
                <a:solidFill>
                  <a:srgbClr val="126B46"/>
                </a:solidFill>
              </a:rPr>
              <a:t>02</a:t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1666875" y="3381375"/>
            <a:ext cx="1714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00"/>
              <a:buFont typeface="Arial"/>
              <a:buNone/>
            </a:pPr>
            <a:r>
              <a:rPr i="0" lang="en-US" sz="1800">
                <a:solidFill>
                  <a:srgbClr val="12241C"/>
                </a:solidFill>
              </a:rPr>
              <a:t>Proof</a:t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3714750" y="3400425"/>
            <a:ext cx="67627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575"/>
              <a:buFont typeface="Arial"/>
              <a:buNone/>
            </a:pPr>
            <a:r>
              <a:rPr i="0" lang="en-US" sz="1575">
                <a:solidFill>
                  <a:srgbClr val="556159"/>
                </a:solidFill>
              </a:rPr>
              <a:t>Screenshots and test results end up somewhere else.</a:t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1666875" y="3962400"/>
            <a:ext cx="8886825" cy="9525"/>
          </a:xfrm>
          <a:prstGeom prst="rect">
            <a:avLst/>
          </a:prstGeom>
          <a:solidFill>
            <a:srgbClr val="D5D2C8"/>
          </a:solidFill>
          <a:ln cap="flat" cmpd="sng" w="9525">
            <a:solidFill>
              <a:srgbClr val="D5D2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685800" y="4229100"/>
            <a:ext cx="6858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2625"/>
              <a:buFont typeface="Arial"/>
              <a:buNone/>
            </a:pPr>
            <a:r>
              <a:rPr i="0" lang="en-US" sz="2625">
                <a:solidFill>
                  <a:srgbClr val="126B46"/>
                </a:solidFill>
              </a:rPr>
              <a:t>03</a:t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1666875" y="4257675"/>
            <a:ext cx="1714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00"/>
              <a:buFont typeface="Arial"/>
              <a:buNone/>
            </a:pPr>
            <a:r>
              <a:rPr i="0" lang="en-US" sz="1800">
                <a:solidFill>
                  <a:srgbClr val="12241C"/>
                </a:solidFill>
              </a:rPr>
              <a:t>Decision</a:t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3714750" y="4276725"/>
            <a:ext cx="67627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575"/>
              <a:buFont typeface="Arial"/>
              <a:buNone/>
            </a:pPr>
            <a:r>
              <a:rPr i="0" lang="en-US" sz="1575">
                <a:solidFill>
                  <a:srgbClr val="556159"/>
                </a:solidFill>
              </a:rPr>
              <a:t>The approval gets buried in email or chat.</a:t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1666875" y="4838700"/>
            <a:ext cx="8886825" cy="9525"/>
          </a:xfrm>
          <a:prstGeom prst="rect">
            <a:avLst/>
          </a:prstGeom>
          <a:solidFill>
            <a:srgbClr val="D5D2C8"/>
          </a:solidFill>
          <a:ln cap="flat" cmpd="sng" w="9525">
            <a:solidFill>
              <a:srgbClr val="D5D2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685800" y="5105400"/>
            <a:ext cx="68580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2625"/>
              <a:buFont typeface="Arial"/>
              <a:buNone/>
            </a:pPr>
            <a:r>
              <a:rPr i="0" lang="en-US" sz="2625">
                <a:solidFill>
                  <a:srgbClr val="126B46"/>
                </a:solidFill>
              </a:rPr>
              <a:t>04</a:t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1666875" y="5133975"/>
            <a:ext cx="17145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00"/>
              <a:buFont typeface="Arial"/>
              <a:buNone/>
            </a:pPr>
            <a:r>
              <a:rPr i="0" lang="en-US" sz="1800">
                <a:solidFill>
                  <a:srgbClr val="12241C"/>
                </a:solidFill>
              </a:rPr>
              <a:t>Billing</a:t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3714750" y="5153025"/>
            <a:ext cx="67627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575"/>
              <a:buFont typeface="Arial"/>
              <a:buNone/>
            </a:pPr>
            <a:r>
              <a:rPr i="0" lang="en-US" sz="1575">
                <a:solidFill>
                  <a:srgbClr val="556159"/>
                </a:solidFill>
              </a:rPr>
              <a:t>By invoicing time, the evidence trail is gone.</a:t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6858000" y="5886450"/>
            <a:ext cx="4648200" cy="552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1500"/>
              <a:buFont typeface="Arial"/>
              <a:buNone/>
            </a:pPr>
            <a:r>
              <a:rPr i="0" lang="en-US" sz="1500">
                <a:solidFill>
                  <a:srgbClr val="126B46"/>
                </a:solidFill>
              </a:rPr>
              <a:t>Greenlit keeps the promise, proof, decision, and invoice handoff together.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"/>
          <p:cNvSpPr/>
          <p:nvPr/>
        </p:nvSpPr>
        <p:spPr>
          <a:xfrm>
            <a:off x="685800" y="361950"/>
            <a:ext cx="2952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i="0" lang="en-US" sz="975">
                <a:solidFill>
                  <a:srgbClr val="556159"/>
                </a:solidFill>
              </a:rPr>
              <a:t>GREENLIT · BLUEPRINT 2026</a:t>
            </a: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56655D"/>
                </a:solidFill>
              </a:rPr>
              <a:t>03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685800" y="1000125"/>
            <a:ext cx="9239250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3600"/>
              <a:buFont typeface="Arial"/>
              <a:buNone/>
            </a:pPr>
            <a:r>
              <a:rPr i="0" lang="en-US" sz="3600">
                <a:solidFill>
                  <a:srgbClr val="12241C"/>
                </a:solidFill>
              </a:rPr>
              <a:t>The same promise stays connected from contract to approval.</a:t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685800" y="2381250"/>
            <a:ext cx="6286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5250"/>
              <a:buFont typeface="Arial"/>
              <a:buNone/>
            </a:pPr>
            <a:r>
              <a:rPr i="0" lang="en-US" sz="5250">
                <a:solidFill>
                  <a:srgbClr val="126B46"/>
                </a:solidFill>
              </a:rPr>
              <a:t>1</a:t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685800" y="3352800"/>
            <a:ext cx="2171700" cy="28575"/>
          </a:xfrm>
          <a:prstGeom prst="rect">
            <a:avLst/>
          </a:prstGeom>
          <a:solidFill>
            <a:srgbClr val="126B46"/>
          </a:solidFill>
          <a:ln cap="flat" cmpd="sng" w="9525">
            <a:solidFill>
              <a:srgbClr val="126B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685800" y="3619500"/>
            <a:ext cx="2095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2025"/>
              <a:buFont typeface="Arial"/>
              <a:buNone/>
            </a:pPr>
            <a:r>
              <a:rPr i="0" lang="en-US" sz="2025">
                <a:solidFill>
                  <a:srgbClr val="12241C"/>
                </a:solidFill>
              </a:rPr>
              <a:t>Confirm</a:t>
            </a:r>
            <a:endParaRPr/>
          </a:p>
        </p:txBody>
      </p:sp>
      <p:sp>
        <p:nvSpPr>
          <p:cNvPr id="60" name="Google Shape;60;p5"/>
          <p:cNvSpPr/>
          <p:nvPr/>
        </p:nvSpPr>
        <p:spPr>
          <a:xfrm>
            <a:off x="685800" y="4114800"/>
            <a:ext cx="21717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350"/>
              <a:buFont typeface="Arial"/>
              <a:buNone/>
            </a:pPr>
            <a:r>
              <a:rPr i="0" lang="en-US" sz="1350">
                <a:solidFill>
                  <a:srgbClr val="556159"/>
                </a:solidFill>
              </a:rPr>
              <a:t>Turn the SOW into clear criteria your team approves.</a:t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2933700" y="2857500"/>
            <a:ext cx="381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2400"/>
              <a:buFont typeface="Arial"/>
              <a:buNone/>
            </a:pPr>
            <a:r>
              <a:rPr i="0" lang="en-US" sz="2400">
                <a:solidFill>
                  <a:srgbClr val="126B46"/>
                </a:solidFill>
              </a:rPr>
              <a:t>→</a:t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3390900" y="2381250"/>
            <a:ext cx="6286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5250"/>
              <a:buFont typeface="Arial"/>
              <a:buNone/>
            </a:pPr>
            <a:r>
              <a:rPr i="0" lang="en-US" sz="5250">
                <a:solidFill>
                  <a:srgbClr val="126B46"/>
                </a:solidFill>
              </a:rPr>
              <a:t>2</a:t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3390900" y="3352800"/>
            <a:ext cx="2171700" cy="28575"/>
          </a:xfrm>
          <a:prstGeom prst="rect">
            <a:avLst/>
          </a:prstGeom>
          <a:solidFill>
            <a:srgbClr val="126B46"/>
          </a:solidFill>
          <a:ln cap="flat" cmpd="sng" w="9525">
            <a:solidFill>
              <a:srgbClr val="126B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5"/>
          <p:cNvSpPr/>
          <p:nvPr/>
        </p:nvSpPr>
        <p:spPr>
          <a:xfrm>
            <a:off x="3390900" y="3619500"/>
            <a:ext cx="2095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2025"/>
              <a:buFont typeface="Arial"/>
              <a:buNone/>
            </a:pPr>
            <a:r>
              <a:rPr i="0" lang="en-US" sz="2025">
                <a:solidFill>
                  <a:srgbClr val="12241C"/>
                </a:solidFill>
              </a:rPr>
              <a:t>Observe</a:t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3390900" y="4114800"/>
            <a:ext cx="21717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350"/>
              <a:buFont typeface="Arial"/>
              <a:buNone/>
            </a:pPr>
            <a:r>
              <a:rPr i="0" lang="en-US" sz="1350">
                <a:solidFill>
                  <a:srgbClr val="556159"/>
                </a:solidFill>
              </a:rPr>
              <a:t>Run typed browser checks against the approved staging build.</a:t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5638800" y="2857500"/>
            <a:ext cx="381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2400"/>
              <a:buFont typeface="Arial"/>
              <a:buNone/>
            </a:pPr>
            <a:r>
              <a:rPr i="0" lang="en-US" sz="2400">
                <a:solidFill>
                  <a:srgbClr val="126B46"/>
                </a:solidFill>
              </a:rPr>
              <a:t>→</a:t>
            </a:r>
            <a:endParaRPr/>
          </a:p>
        </p:txBody>
      </p:sp>
      <p:sp>
        <p:nvSpPr>
          <p:cNvPr id="67" name="Google Shape;67;p5"/>
          <p:cNvSpPr/>
          <p:nvPr/>
        </p:nvSpPr>
        <p:spPr>
          <a:xfrm>
            <a:off x="6096000" y="2381250"/>
            <a:ext cx="6286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5250"/>
              <a:buFont typeface="Arial"/>
              <a:buNone/>
            </a:pPr>
            <a:r>
              <a:rPr i="0" lang="en-US" sz="5250">
                <a:solidFill>
                  <a:srgbClr val="126B46"/>
                </a:solidFill>
              </a:rPr>
              <a:t>3</a:t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6096000" y="3352800"/>
            <a:ext cx="2171700" cy="28575"/>
          </a:xfrm>
          <a:prstGeom prst="rect">
            <a:avLst/>
          </a:prstGeom>
          <a:solidFill>
            <a:srgbClr val="126B46"/>
          </a:solidFill>
          <a:ln cap="flat" cmpd="sng" w="9525">
            <a:solidFill>
              <a:srgbClr val="126B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6096000" y="3619500"/>
            <a:ext cx="2095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2025"/>
              <a:buFont typeface="Arial"/>
              <a:buNone/>
            </a:pPr>
            <a:r>
              <a:rPr i="0" lang="en-US" sz="2025">
                <a:solidFill>
                  <a:srgbClr val="12241C"/>
                </a:solidFill>
              </a:rPr>
              <a:t>Decide</a:t>
            </a:r>
            <a:endParaRPr/>
          </a:p>
        </p:txBody>
      </p:sp>
      <p:sp>
        <p:nvSpPr>
          <p:cNvPr id="70" name="Google Shape;70;p5"/>
          <p:cNvSpPr/>
          <p:nvPr/>
        </p:nvSpPr>
        <p:spPr>
          <a:xfrm>
            <a:off x="6096000" y="4114800"/>
            <a:ext cx="21717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350"/>
              <a:buFont typeface="Arial"/>
              <a:buNone/>
            </a:pPr>
            <a:r>
              <a:rPr i="0" lang="en-US" sz="1350">
                <a:solidFill>
                  <a:srgbClr val="556159"/>
                </a:solidFill>
              </a:rPr>
              <a:t>Give one reviewer the promise, result, evidence, and deadline.</a:t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8343900" y="2857500"/>
            <a:ext cx="381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2400"/>
              <a:buFont typeface="Arial"/>
              <a:buNone/>
            </a:pPr>
            <a:r>
              <a:rPr i="0" lang="en-US" sz="2400">
                <a:solidFill>
                  <a:srgbClr val="126B46"/>
                </a:solidFill>
              </a:rPr>
              <a:t>→</a:t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8801100" y="2381250"/>
            <a:ext cx="6286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5250"/>
              <a:buFont typeface="Arial"/>
              <a:buNone/>
            </a:pPr>
            <a:r>
              <a:rPr i="0" lang="en-US" sz="5250">
                <a:solidFill>
                  <a:srgbClr val="126B46"/>
                </a:solidFill>
              </a:rPr>
              <a:t>4</a:t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8801100" y="3352800"/>
            <a:ext cx="2171700" cy="28575"/>
          </a:xfrm>
          <a:prstGeom prst="rect">
            <a:avLst/>
          </a:prstGeom>
          <a:solidFill>
            <a:srgbClr val="126B46"/>
          </a:solidFill>
          <a:ln cap="flat" cmpd="sng" w="9525">
            <a:solidFill>
              <a:srgbClr val="126B4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8801100" y="3619500"/>
            <a:ext cx="2095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2025"/>
              <a:buFont typeface="Arial"/>
              <a:buNone/>
            </a:pPr>
            <a:r>
              <a:rPr i="0" lang="en-US" sz="2025">
                <a:solidFill>
                  <a:srgbClr val="12241C"/>
                </a:solidFill>
              </a:rPr>
              <a:t>Record</a:t>
            </a:r>
            <a:endParaRPr/>
          </a:p>
        </p:txBody>
      </p:sp>
      <p:sp>
        <p:nvSpPr>
          <p:cNvPr id="75" name="Google Shape;75;p5"/>
          <p:cNvSpPr/>
          <p:nvPr/>
        </p:nvSpPr>
        <p:spPr>
          <a:xfrm>
            <a:off x="8801100" y="4114800"/>
            <a:ext cx="21717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350"/>
              <a:buFont typeface="Arial"/>
              <a:buNone/>
            </a:pPr>
            <a:r>
              <a:rPr i="0" lang="en-US" sz="1350">
                <a:solidFill>
                  <a:srgbClr val="556159"/>
                </a:solidFill>
              </a:rPr>
              <a:t>Keep the decision with the details needed for invoicing.</a:t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685800" y="5686425"/>
            <a:ext cx="10820400" cy="581025"/>
          </a:xfrm>
          <a:prstGeom prst="rect">
            <a:avLst/>
          </a:prstGeom>
          <a:solidFill>
            <a:srgbClr val="12241C"/>
          </a:solidFill>
          <a:ln cap="flat" cmpd="sng" w="9525">
            <a:solidFill>
              <a:srgbClr val="1224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971550" y="5791200"/>
            <a:ext cx="10248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EFA"/>
              </a:buClr>
              <a:buSzPts val="1650"/>
              <a:buFont typeface="Arial"/>
              <a:buNone/>
            </a:pPr>
            <a:r>
              <a:rPr i="0" lang="en-US" sz="1650">
                <a:solidFill>
                  <a:srgbClr val="FFFEFA"/>
                </a:solidFill>
              </a:rPr>
              <a:t>Your team confirms the criteria, the browser checks the work, and your client makes the call.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6"/>
          <p:cNvSpPr txBox="1"/>
          <p:nvPr/>
        </p:nvSpPr>
        <p:spPr>
          <a:xfrm>
            <a:off x="685800" y="361950"/>
            <a:ext cx="3174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6655D"/>
                </a:solidFill>
              </a:rPr>
              <a:t>GREENLIT · BLUEPRINT 2026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84" name="Google Shape;84;p6"/>
          <p:cNvSpPr txBox="1"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6655D"/>
                </a:solidFill>
              </a:rPr>
              <a:t>04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85" name="Google Shape;85;p6"/>
          <p:cNvSpPr txBox="1"/>
          <p:nvPr/>
        </p:nvSpPr>
        <p:spPr>
          <a:xfrm>
            <a:off x="685800" y="990600"/>
            <a:ext cx="10820400" cy="104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12241C"/>
                </a:solidFill>
              </a:rPr>
              <a:t>Greenlit starts with agencies that get paid by milestone.</a:t>
            </a:r>
            <a:endParaRPr sz="3600">
              <a:solidFill>
                <a:srgbClr val="12241C"/>
              </a:solidFill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600525" y="2286000"/>
            <a:ext cx="4530300" cy="35661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6"/>
          <p:cNvSpPr txBox="1"/>
          <p:nvPr/>
        </p:nvSpPr>
        <p:spPr>
          <a:xfrm>
            <a:off x="990600" y="2565400"/>
            <a:ext cx="3302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126B46"/>
                </a:solidFill>
              </a:rPr>
              <a:t>WHO WE START WITH</a:t>
            </a:r>
            <a:endParaRPr b="1" sz="1000">
              <a:solidFill>
                <a:srgbClr val="126B46"/>
              </a:solidFill>
            </a:endParaRPr>
          </a:p>
        </p:txBody>
      </p:sp>
      <p:sp>
        <p:nvSpPr>
          <p:cNvPr id="88" name="Google Shape;88;p6"/>
          <p:cNvSpPr txBox="1"/>
          <p:nvPr/>
        </p:nvSpPr>
        <p:spPr>
          <a:xfrm>
            <a:off x="958800" y="2850325"/>
            <a:ext cx="3683100" cy="7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12241C"/>
                </a:solidFill>
              </a:rPr>
              <a:t>Web, product, and creative agencies with 10–50 people</a:t>
            </a:r>
            <a:endParaRPr b="1" sz="2200">
              <a:solidFill>
                <a:srgbClr val="12241C"/>
              </a:solidFill>
            </a:endParaRPr>
          </a:p>
        </p:txBody>
      </p:sp>
      <p:sp>
        <p:nvSpPr>
          <p:cNvPr id="89" name="Google Shape;89;p6"/>
          <p:cNvSpPr txBox="1"/>
          <p:nvPr/>
        </p:nvSpPr>
        <p:spPr>
          <a:xfrm>
            <a:off x="990600" y="3937000"/>
            <a:ext cx="1269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56655D"/>
                </a:solidFill>
              </a:rPr>
              <a:t>BUYER</a:t>
            </a:r>
            <a:endParaRPr b="1" sz="950">
              <a:solidFill>
                <a:srgbClr val="56655D"/>
              </a:solidFill>
            </a:endParaRPr>
          </a:p>
        </p:txBody>
      </p:sp>
      <p:sp>
        <p:nvSpPr>
          <p:cNvPr id="90" name="Google Shape;90;p6"/>
          <p:cNvSpPr txBox="1"/>
          <p:nvPr/>
        </p:nvSpPr>
        <p:spPr>
          <a:xfrm>
            <a:off x="990600" y="4191000"/>
            <a:ext cx="35559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2241C"/>
                </a:solidFill>
              </a:rPr>
              <a:t>Agency owner, delivery lead, or account lead</a:t>
            </a:r>
            <a:endParaRPr sz="1350">
              <a:solidFill>
                <a:srgbClr val="12241C"/>
              </a:solidFill>
            </a:endParaRPr>
          </a:p>
        </p:txBody>
      </p:sp>
      <p:sp>
        <p:nvSpPr>
          <p:cNvPr id="91" name="Google Shape;91;p6"/>
          <p:cNvSpPr txBox="1"/>
          <p:nvPr/>
        </p:nvSpPr>
        <p:spPr>
          <a:xfrm>
            <a:off x="990600" y="4876800"/>
            <a:ext cx="1269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56655D"/>
                </a:solidFill>
              </a:rPr>
              <a:t>PAIN</a:t>
            </a:r>
            <a:endParaRPr b="1" sz="950">
              <a:solidFill>
                <a:srgbClr val="56655D"/>
              </a:solidFill>
            </a:endParaRPr>
          </a:p>
        </p:txBody>
      </p:sp>
      <p:sp>
        <p:nvSpPr>
          <p:cNvPr id="92" name="Google Shape;92;p6"/>
          <p:cNvSpPr txBox="1"/>
          <p:nvPr/>
        </p:nvSpPr>
        <p:spPr>
          <a:xfrm>
            <a:off x="990600" y="5130800"/>
            <a:ext cx="3619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2241C"/>
                </a:solidFill>
              </a:rPr>
              <a:t>Proof, approval, and billing live in different tools.</a:t>
            </a:r>
            <a:endParaRPr sz="1350">
              <a:solidFill>
                <a:srgbClr val="12241C"/>
              </a:solidFill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5344675" y="2286000"/>
            <a:ext cx="6161700" cy="35661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6"/>
          <p:cNvSpPr txBox="1"/>
          <p:nvPr/>
        </p:nvSpPr>
        <p:spPr>
          <a:xfrm>
            <a:off x="5867400" y="2514600"/>
            <a:ext cx="2793900" cy="7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126B46"/>
                </a:solidFill>
              </a:rPr>
              <a:t>99,391</a:t>
            </a:r>
            <a:endParaRPr b="1" sz="4400">
              <a:solidFill>
                <a:srgbClr val="126B46"/>
              </a:solidFill>
            </a:endParaRPr>
          </a:p>
        </p:txBody>
      </p:sp>
      <p:sp>
        <p:nvSpPr>
          <p:cNvPr id="95" name="Google Shape;95;p6"/>
          <p:cNvSpPr txBox="1"/>
          <p:nvPr/>
        </p:nvSpPr>
        <p:spPr>
          <a:xfrm>
            <a:off x="5867400" y="3225800"/>
            <a:ext cx="4953000" cy="48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2241C"/>
                </a:solidFill>
              </a:rPr>
              <a:t>U.S. employer establishments across three adjacent categories</a:t>
            </a:r>
            <a:endParaRPr b="1">
              <a:solidFill>
                <a:srgbClr val="12241C"/>
              </a:solidFill>
            </a:endParaRPr>
          </a:p>
        </p:txBody>
      </p:sp>
      <p:sp>
        <p:nvSpPr>
          <p:cNvPr id="96" name="Google Shape;96;p6"/>
          <p:cNvSpPr txBox="1"/>
          <p:nvPr/>
        </p:nvSpPr>
        <p:spPr>
          <a:xfrm>
            <a:off x="5867400" y="3873500"/>
            <a:ext cx="4978500" cy="9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2241C"/>
                </a:solidFill>
              </a:rPr>
              <a:t>68,051   Custom computer programming</a:t>
            </a:r>
            <a:endParaRPr sz="1350">
              <a:solidFill>
                <a:srgbClr val="12241C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2241C"/>
                </a:solidFill>
              </a:rPr>
              <a:t>15,828   Graphic design</a:t>
            </a:r>
            <a:endParaRPr sz="1350">
              <a:solidFill>
                <a:srgbClr val="12241C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12241C"/>
                </a:solidFill>
              </a:rPr>
              <a:t>15,512   Advertising agencies</a:t>
            </a:r>
            <a:endParaRPr sz="1350">
              <a:solidFill>
                <a:srgbClr val="12241C"/>
              </a:solidFill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5765800" y="4953000"/>
            <a:ext cx="5435700" cy="533400"/>
          </a:xfrm>
          <a:prstGeom prst="roundRect">
            <a:avLst>
              <a:gd fmla="val 16667" name="adj"/>
            </a:avLst>
          </a:prstGeom>
          <a:solidFill>
            <a:srgbClr val="126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 txBox="1"/>
          <p:nvPr/>
        </p:nvSpPr>
        <p:spPr>
          <a:xfrm>
            <a:off x="5969000" y="5080000"/>
            <a:ext cx="50292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FFFFFF"/>
                </a:solidFill>
              </a:rPr>
              <a:t>At $200/month: about $239M/year (illustrative)</a:t>
            </a:r>
            <a:endParaRPr b="1" sz="1300">
              <a:solidFill>
                <a:srgbClr val="FFFFFF"/>
              </a:solidFill>
            </a:endParaRPr>
          </a:p>
        </p:txBody>
      </p:sp>
      <p:sp>
        <p:nvSpPr>
          <p:cNvPr id="99" name="Google Shape;99;p6"/>
          <p:cNvSpPr txBox="1"/>
          <p:nvPr/>
        </p:nvSpPr>
        <p:spPr>
          <a:xfrm>
            <a:off x="685800" y="6121400"/>
            <a:ext cx="10820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56655D"/>
                </a:solidFill>
              </a:rPr>
              <a:t>Market proxy: 2023 U.S. Census County Business Patterns, employer establishments only. Pricing scenario is illustrative.</a:t>
            </a:r>
            <a:endParaRPr sz="900">
              <a:solidFill>
                <a:srgbClr val="56655D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7"/>
          <p:cNvSpPr/>
          <p:nvPr/>
        </p:nvSpPr>
        <p:spPr>
          <a:xfrm>
            <a:off x="685800" y="361950"/>
            <a:ext cx="2952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i="0" lang="en-US" sz="975">
                <a:solidFill>
                  <a:srgbClr val="556159"/>
                </a:solidFill>
              </a:rPr>
              <a:t>GREENLIT · BLUEPRINT 2026</a:t>
            </a:r>
            <a:endParaRPr/>
          </a:p>
        </p:txBody>
      </p:sp>
      <p:sp>
        <p:nvSpPr>
          <p:cNvPr id="106" name="Google Shape;106;p7"/>
          <p:cNvSpPr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56655D"/>
                </a:solidFill>
              </a:rPr>
              <a:t>05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107" name="Google Shape;107;p7"/>
          <p:cNvSpPr/>
          <p:nvPr/>
        </p:nvSpPr>
        <p:spPr>
          <a:xfrm>
            <a:off x="685800" y="1000125"/>
            <a:ext cx="7620000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3600"/>
              <a:buFont typeface="Arial"/>
              <a:buNone/>
            </a:pPr>
            <a:r>
              <a:rPr i="0" lang="en-US" sz="3600">
                <a:solidFill>
                  <a:srgbClr val="12241C"/>
                </a:solidFill>
              </a:rPr>
              <a:t>A polished success message is not proof.</a:t>
            </a: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685800" y="2571750"/>
            <a:ext cx="409575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650"/>
              <a:buFont typeface="Arial"/>
              <a:buNone/>
            </a:pPr>
            <a:r>
              <a:rPr i="0" lang="en-US" sz="1650">
                <a:solidFill>
                  <a:srgbClr val="556159"/>
                </a:solidFill>
              </a:rPr>
              <a:t>The test site says the form worked even though the request returned 500. Greenlit records that failure alongside the exact criterion.</a:t>
            </a:r>
            <a:endParaRPr/>
          </a:p>
        </p:txBody>
      </p:sp>
      <p:sp>
        <p:nvSpPr>
          <p:cNvPr id="109" name="Google Shape;109;p7"/>
          <p:cNvSpPr/>
          <p:nvPr/>
        </p:nvSpPr>
        <p:spPr>
          <a:xfrm>
            <a:off x="685800" y="4429125"/>
            <a:ext cx="4000500" cy="1190625"/>
          </a:xfrm>
          <a:prstGeom prst="rect">
            <a:avLst/>
          </a:prstGeom>
          <a:solidFill>
            <a:srgbClr val="FFF0EB"/>
          </a:solidFill>
          <a:ln cap="flat" cmpd="sng" w="19050">
            <a:solidFill>
              <a:srgbClr val="B63F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7"/>
          <p:cNvSpPr/>
          <p:nvPr/>
        </p:nvSpPr>
        <p:spPr>
          <a:xfrm>
            <a:off x="933450" y="4648200"/>
            <a:ext cx="3429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3F3A"/>
              </a:buClr>
              <a:buSzPts val="1275"/>
              <a:buFont typeface="Arial"/>
              <a:buNone/>
            </a:pPr>
            <a:r>
              <a:rPr i="0" lang="en-US" sz="1275">
                <a:solidFill>
                  <a:srgbClr val="B63F3A"/>
                </a:solidFill>
              </a:rPr>
              <a:t>AC-04 · FAILED CHECK</a:t>
            </a:r>
            <a:endParaRPr/>
          </a:p>
        </p:txBody>
      </p:sp>
      <p:sp>
        <p:nvSpPr>
          <p:cNvPr id="111" name="Google Shape;111;p7"/>
          <p:cNvSpPr/>
          <p:nvPr/>
        </p:nvSpPr>
        <p:spPr>
          <a:xfrm>
            <a:off x="933450" y="5095875"/>
            <a:ext cx="3429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275"/>
              <a:buFont typeface="Arial"/>
              <a:buNone/>
            </a:pPr>
            <a:r>
              <a:rPr i="0" lang="en-US" sz="1275">
                <a:solidFill>
                  <a:srgbClr val="12241C"/>
                </a:solidFill>
              </a:rPr>
              <a:t>The page showed success, but the server returned HTTP 500.</a:t>
            </a:r>
            <a:endParaRPr/>
          </a:p>
        </p:txBody>
      </p:sp>
      <p:pic>
        <p:nvPicPr>
          <p:cNvPr id="112" name="Google Shape;112;p7"/>
          <p:cNvPicPr preferRelativeResize="0"/>
          <p:nvPr/>
        </p:nvPicPr>
        <p:blipFill rotWithShape="1">
          <a:blip r:embed="rId3">
            <a:alphaModFix/>
          </a:blip>
          <a:srcRect b="1064" l="0" r="0" t="1064"/>
          <a:stretch/>
        </p:blipFill>
        <p:spPr>
          <a:xfrm>
            <a:off x="5191125" y="2333625"/>
            <a:ext cx="6315075" cy="3381375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113" name="Google Shape;113;p7"/>
          <p:cNvSpPr/>
          <p:nvPr/>
        </p:nvSpPr>
        <p:spPr>
          <a:xfrm>
            <a:off x="5191125" y="5867400"/>
            <a:ext cx="6315075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125"/>
              <a:buFont typeface="Arial"/>
              <a:buNone/>
            </a:pPr>
            <a:r>
              <a:rPr i="0" lang="en-US" sz="1125">
                <a:solidFill>
                  <a:srgbClr val="556159"/>
                </a:solidFill>
              </a:rPr>
              <a:t>Synthetic walkthrough evidence; no retained transaction was created.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"/>
          <p:cNvSpPr/>
          <p:nvPr/>
        </p:nvSpPr>
        <p:spPr>
          <a:xfrm>
            <a:off x="685800" y="361950"/>
            <a:ext cx="2952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i="0" lang="en-US" sz="975">
                <a:solidFill>
                  <a:srgbClr val="556159"/>
                </a:solidFill>
              </a:rPr>
              <a:t>GREENLIT · BLUEPRINT 2026</a:t>
            </a:r>
            <a:endParaRPr/>
          </a:p>
        </p:txBody>
      </p:sp>
      <p:sp>
        <p:nvSpPr>
          <p:cNvPr id="120" name="Google Shape;120;p8"/>
          <p:cNvSpPr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56655D"/>
                </a:solidFill>
              </a:rPr>
              <a:t>06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685800" y="1000125"/>
            <a:ext cx="93345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3600"/>
              <a:buFont typeface="Arial"/>
              <a:buNone/>
            </a:pPr>
            <a:r>
              <a:rPr i="0" lang="en-US" sz="3600">
                <a:solidFill>
                  <a:srgbClr val="12241C"/>
                </a:solidFill>
              </a:rPr>
              <a:t>The client sees the promise, not a test dashboard.</a:t>
            </a:r>
            <a:endParaRPr/>
          </a:p>
        </p:txBody>
      </p:sp>
      <p:pic>
        <p:nvPicPr>
          <p:cNvPr id="122" name="Google Shape;122;p8"/>
          <p:cNvPicPr preferRelativeResize="0"/>
          <p:nvPr/>
        </p:nvPicPr>
        <p:blipFill rotWithShape="1">
          <a:blip r:embed="rId3">
            <a:alphaModFix/>
          </a:blip>
          <a:srcRect b="0" l="112" r="112" t="0"/>
          <a:stretch/>
        </p:blipFill>
        <p:spPr>
          <a:xfrm>
            <a:off x="685800" y="2333625"/>
            <a:ext cx="7096125" cy="40005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  <p:sp>
        <p:nvSpPr>
          <p:cNvPr id="123" name="Google Shape;123;p8"/>
          <p:cNvSpPr/>
          <p:nvPr/>
        </p:nvSpPr>
        <p:spPr>
          <a:xfrm>
            <a:off x="8334375" y="2571750"/>
            <a:ext cx="2857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75"/>
              <a:buFont typeface="Arial"/>
              <a:buNone/>
            </a:pPr>
            <a:r>
              <a:rPr i="0" lang="en-US" sz="1875">
                <a:solidFill>
                  <a:srgbClr val="12241C"/>
                </a:solidFill>
              </a:rPr>
              <a:t>The original SOW clause</a:t>
            </a:r>
            <a:endParaRPr/>
          </a:p>
        </p:txBody>
      </p:sp>
      <p:sp>
        <p:nvSpPr>
          <p:cNvPr id="124" name="Google Shape;124;p8"/>
          <p:cNvSpPr/>
          <p:nvPr/>
        </p:nvSpPr>
        <p:spPr>
          <a:xfrm>
            <a:off x="8334375" y="3381375"/>
            <a:ext cx="2857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75"/>
              <a:buFont typeface="Arial"/>
              <a:buNone/>
            </a:pPr>
            <a:r>
              <a:rPr i="0" lang="en-US" sz="1875">
                <a:solidFill>
                  <a:srgbClr val="12241C"/>
                </a:solidFill>
              </a:rPr>
              <a:t>Expected result and actual result</a:t>
            </a:r>
            <a:endParaRPr/>
          </a:p>
        </p:txBody>
      </p:sp>
      <p:sp>
        <p:nvSpPr>
          <p:cNvPr id="125" name="Google Shape;125;p8"/>
          <p:cNvSpPr/>
          <p:nvPr/>
        </p:nvSpPr>
        <p:spPr>
          <a:xfrm>
            <a:off x="8334375" y="4410075"/>
            <a:ext cx="2857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75"/>
              <a:buFont typeface="Arial"/>
              <a:buNone/>
            </a:pPr>
            <a:r>
              <a:rPr i="0" lang="en-US" sz="1875">
                <a:solidFill>
                  <a:srgbClr val="12241C"/>
                </a:solidFill>
              </a:rPr>
              <a:t>Evidence and the deadline</a:t>
            </a:r>
            <a:endParaRPr/>
          </a:p>
        </p:txBody>
      </p:sp>
      <p:sp>
        <p:nvSpPr>
          <p:cNvPr id="126" name="Google Shape;126;p8"/>
          <p:cNvSpPr/>
          <p:nvPr/>
        </p:nvSpPr>
        <p:spPr>
          <a:xfrm>
            <a:off x="8334375" y="5219700"/>
            <a:ext cx="2857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75"/>
              <a:buFont typeface="Arial"/>
              <a:buNone/>
            </a:pPr>
            <a:r>
              <a:rPr i="0" lang="en-US" sz="1875">
                <a:solidFill>
                  <a:srgbClr val="12241C"/>
                </a:solidFill>
              </a:rPr>
              <a:t>Approve or request changes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685800" y="361950"/>
            <a:ext cx="29527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i="0" lang="en-US" sz="975">
                <a:solidFill>
                  <a:srgbClr val="556159"/>
                </a:solidFill>
              </a:rPr>
              <a:t>GREENLIT · BLUEPRINT 2026</a:t>
            </a:r>
            <a:endParaRPr/>
          </a:p>
        </p:txBody>
      </p:sp>
      <p:sp>
        <p:nvSpPr>
          <p:cNvPr id="133" name="Google Shape;133;p9"/>
          <p:cNvSpPr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975"/>
              <a:buFont typeface="Arial"/>
              <a:buNone/>
            </a:pPr>
            <a:r>
              <a:rPr b="1" lang="en-US" sz="975">
                <a:solidFill>
                  <a:srgbClr val="56655D"/>
                </a:solidFill>
              </a:rPr>
              <a:t>07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134" name="Google Shape;134;p9"/>
          <p:cNvSpPr/>
          <p:nvPr/>
        </p:nvSpPr>
        <p:spPr>
          <a:xfrm>
            <a:off x="685800" y="1000125"/>
            <a:ext cx="8858250" cy="1190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3600"/>
              <a:buFont typeface="Arial"/>
              <a:buNone/>
            </a:pPr>
            <a:r>
              <a:rPr i="0" lang="en-US" sz="3600">
                <a:solidFill>
                  <a:srgbClr val="12241C"/>
                </a:solidFill>
              </a:rPr>
              <a:t>The walkthrough ends in an invoice-ready sample.</a:t>
            </a:r>
            <a:endParaRPr/>
          </a:p>
        </p:txBody>
      </p:sp>
      <p:sp>
        <p:nvSpPr>
          <p:cNvPr id="135" name="Google Shape;135;p9"/>
          <p:cNvSpPr/>
          <p:nvPr/>
        </p:nvSpPr>
        <p:spPr>
          <a:xfrm>
            <a:off x="685800" y="2333625"/>
            <a:ext cx="3762375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56159"/>
              </a:buClr>
              <a:buSzPts val="1650"/>
              <a:buFont typeface="Arial"/>
              <a:buNone/>
            </a:pPr>
            <a:r>
              <a:rPr i="0" lang="en-US" sz="1650">
                <a:solidFill>
                  <a:srgbClr val="556159"/>
                </a:solidFill>
              </a:rPr>
              <a:t>The sample receipt keeps the milestone value, revision, observed build, and local-only decision in one place.</a:t>
            </a:r>
            <a:endParaRPr/>
          </a:p>
        </p:txBody>
      </p:sp>
      <p:sp>
        <p:nvSpPr>
          <p:cNvPr id="136" name="Google Shape;136;p9"/>
          <p:cNvSpPr/>
          <p:nvPr/>
        </p:nvSpPr>
        <p:spPr>
          <a:xfrm>
            <a:off x="685800" y="3838575"/>
            <a:ext cx="1809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6B46"/>
              </a:buClr>
              <a:buSzPts val="1650"/>
              <a:buFont typeface="Arial"/>
              <a:buNone/>
            </a:pPr>
            <a:r>
              <a:rPr i="0" lang="en-US" sz="1650">
                <a:solidFill>
                  <a:srgbClr val="126B46"/>
                </a:solidFill>
              </a:rPr>
              <a:t>What it is</a:t>
            </a:r>
            <a:endParaRPr/>
          </a:p>
        </p:txBody>
      </p:sp>
      <p:sp>
        <p:nvSpPr>
          <p:cNvPr id="137" name="Google Shape;137;p9"/>
          <p:cNvSpPr/>
          <p:nvPr/>
        </p:nvSpPr>
        <p:spPr>
          <a:xfrm>
            <a:off x="685800" y="4286250"/>
            <a:ext cx="3762375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425"/>
              <a:buFont typeface="Arial"/>
              <a:buNone/>
            </a:pPr>
            <a:r>
              <a:rPr i="0" lang="en-US" sz="1425">
                <a:solidFill>
                  <a:srgbClr val="12241C"/>
                </a:solidFill>
              </a:rPr>
              <a:t>A printable summary of the approval and invoice handoff.</a:t>
            </a:r>
            <a:endParaRPr/>
          </a:p>
        </p:txBody>
      </p:sp>
      <p:sp>
        <p:nvSpPr>
          <p:cNvPr id="138" name="Google Shape;138;p9"/>
          <p:cNvSpPr/>
          <p:nvPr/>
        </p:nvSpPr>
        <p:spPr>
          <a:xfrm>
            <a:off x="685800" y="5143500"/>
            <a:ext cx="18097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63F3A"/>
              </a:buClr>
              <a:buSzPts val="1650"/>
              <a:buFont typeface="Arial"/>
              <a:buNone/>
            </a:pPr>
            <a:r>
              <a:rPr i="0" lang="en-US" sz="1650">
                <a:solidFill>
                  <a:srgbClr val="B63F3A"/>
                </a:solidFill>
              </a:rPr>
              <a:t>What it is not</a:t>
            </a:r>
            <a:endParaRPr/>
          </a:p>
        </p:txBody>
      </p:sp>
      <p:sp>
        <p:nvSpPr>
          <p:cNvPr id="139" name="Google Shape;139;p9"/>
          <p:cNvSpPr/>
          <p:nvPr/>
        </p:nvSpPr>
        <p:spPr>
          <a:xfrm>
            <a:off x="685800" y="5591175"/>
            <a:ext cx="3762375" cy="6286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425"/>
              <a:buFont typeface="Arial"/>
              <a:buNone/>
            </a:pPr>
            <a:r>
              <a:rPr i="0" lang="en-US" sz="1425">
                <a:solidFill>
                  <a:srgbClr val="12241C"/>
                </a:solidFill>
              </a:rPr>
              <a:t>A signature, certification, payment record, or guarantee.</a:t>
            </a:r>
            <a:endParaRPr/>
          </a:p>
        </p:txBody>
      </p:sp>
      <p:pic>
        <p:nvPicPr>
          <p:cNvPr id="140" name="Google Shape;140;p9"/>
          <p:cNvPicPr preferRelativeResize="0"/>
          <p:nvPr/>
        </p:nvPicPr>
        <p:blipFill rotWithShape="1">
          <a:blip r:embed="rId3">
            <a:alphaModFix/>
          </a:blip>
          <a:srcRect b="0" l="9428" r="9428" t="0"/>
          <a:stretch/>
        </p:blipFill>
        <p:spPr>
          <a:xfrm>
            <a:off x="5048250" y="1809750"/>
            <a:ext cx="6457950" cy="447675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" name="Google Shape;146;p10"/>
          <p:cNvCxnSpPr/>
          <p:nvPr/>
        </p:nvCxnSpPr>
        <p:spPr>
          <a:xfrm>
            <a:off x="1828800" y="3365500"/>
            <a:ext cx="317400" cy="12600"/>
          </a:xfrm>
          <a:prstGeom prst="straightConnector1">
            <a:avLst/>
          </a:prstGeom>
          <a:noFill/>
          <a:ln cap="flat" cmpd="sng" w="25400">
            <a:solidFill>
              <a:srgbClr val="126B4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47" name="Google Shape;147;p10"/>
          <p:cNvCxnSpPr/>
          <p:nvPr/>
        </p:nvCxnSpPr>
        <p:spPr>
          <a:xfrm>
            <a:off x="3606800" y="3365500"/>
            <a:ext cx="317400" cy="12600"/>
          </a:xfrm>
          <a:prstGeom prst="straightConnector1">
            <a:avLst/>
          </a:prstGeom>
          <a:noFill/>
          <a:ln cap="flat" cmpd="sng" w="25400">
            <a:solidFill>
              <a:srgbClr val="126B4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48" name="Google Shape;148;p10"/>
          <p:cNvCxnSpPr/>
          <p:nvPr/>
        </p:nvCxnSpPr>
        <p:spPr>
          <a:xfrm>
            <a:off x="5257800" y="3365500"/>
            <a:ext cx="317400" cy="12600"/>
          </a:xfrm>
          <a:prstGeom prst="straightConnector1">
            <a:avLst/>
          </a:prstGeom>
          <a:noFill/>
          <a:ln cap="flat" cmpd="sng" w="25400">
            <a:solidFill>
              <a:srgbClr val="126B4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49" name="Google Shape;149;p10"/>
          <p:cNvCxnSpPr/>
          <p:nvPr/>
        </p:nvCxnSpPr>
        <p:spPr>
          <a:xfrm>
            <a:off x="7162800" y="3365500"/>
            <a:ext cx="317400" cy="12600"/>
          </a:xfrm>
          <a:prstGeom prst="straightConnector1">
            <a:avLst/>
          </a:prstGeom>
          <a:noFill/>
          <a:ln cap="flat" cmpd="sng" w="25400">
            <a:solidFill>
              <a:srgbClr val="126B4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50" name="Google Shape;150;p10"/>
          <p:cNvCxnSpPr/>
          <p:nvPr/>
        </p:nvCxnSpPr>
        <p:spPr>
          <a:xfrm>
            <a:off x="9258300" y="3365500"/>
            <a:ext cx="317400" cy="12600"/>
          </a:xfrm>
          <a:prstGeom prst="straightConnector1">
            <a:avLst/>
          </a:prstGeom>
          <a:noFill/>
          <a:ln cap="flat" cmpd="sng" w="25400">
            <a:solidFill>
              <a:srgbClr val="126B4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51" name="Google Shape;151;p10"/>
          <p:cNvCxnSpPr/>
          <p:nvPr/>
        </p:nvCxnSpPr>
        <p:spPr>
          <a:xfrm>
            <a:off x="8369300" y="3873500"/>
            <a:ext cx="12600" cy="952500"/>
          </a:xfrm>
          <a:prstGeom prst="straightConnector1">
            <a:avLst/>
          </a:prstGeom>
          <a:noFill/>
          <a:ln cap="flat" cmpd="sng" w="25400">
            <a:solidFill>
              <a:srgbClr val="126B46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152" name="Google Shape;152;p10"/>
          <p:cNvCxnSpPr/>
          <p:nvPr/>
        </p:nvCxnSpPr>
        <p:spPr>
          <a:xfrm>
            <a:off x="9385300" y="5270500"/>
            <a:ext cx="393600" cy="12600"/>
          </a:xfrm>
          <a:prstGeom prst="straightConnector1">
            <a:avLst/>
          </a:prstGeom>
          <a:noFill/>
          <a:ln cap="flat" cmpd="sng" w="25400">
            <a:solidFill>
              <a:srgbClr val="126B46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153" name="Google Shape;153;p10"/>
          <p:cNvSpPr txBox="1"/>
          <p:nvPr/>
        </p:nvSpPr>
        <p:spPr>
          <a:xfrm>
            <a:off x="685800" y="361950"/>
            <a:ext cx="3174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6655D"/>
                </a:solidFill>
              </a:rPr>
              <a:t>GREENLIT · BLUEPRINT 2026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154" name="Google Shape;154;p10"/>
          <p:cNvSpPr txBox="1"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6655D"/>
                </a:solidFill>
              </a:rPr>
              <a:t>08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155" name="Google Shape;155;p10"/>
          <p:cNvSpPr txBox="1"/>
          <p:nvPr/>
        </p:nvSpPr>
        <p:spPr>
          <a:xfrm>
            <a:off x="685800" y="990600"/>
            <a:ext cx="10820400" cy="104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12241C"/>
                </a:solidFill>
              </a:rPr>
              <a:t>The architecture keeps drafting, browser checks, and approval separate.</a:t>
            </a:r>
            <a:endParaRPr sz="3600">
              <a:solidFill>
                <a:srgbClr val="12241C"/>
              </a:solidFill>
            </a:endParaRPr>
          </a:p>
        </p:txBody>
      </p:sp>
      <p:sp>
        <p:nvSpPr>
          <p:cNvPr id="156" name="Google Shape;156;p10"/>
          <p:cNvSpPr/>
          <p:nvPr/>
        </p:nvSpPr>
        <p:spPr>
          <a:xfrm>
            <a:off x="685800" y="2794000"/>
            <a:ext cx="1143000" cy="10794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0"/>
          <p:cNvSpPr txBox="1"/>
          <p:nvPr/>
        </p:nvSpPr>
        <p:spPr>
          <a:xfrm>
            <a:off x="812800" y="2997200"/>
            <a:ext cx="8889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26B46"/>
                </a:solidFill>
              </a:rPr>
              <a:t>SOW</a:t>
            </a:r>
            <a:endParaRPr b="1" sz="950">
              <a:solidFill>
                <a:srgbClr val="126B46"/>
              </a:solidFill>
            </a:endParaRPr>
          </a:p>
        </p:txBody>
      </p:sp>
      <p:sp>
        <p:nvSpPr>
          <p:cNvPr id="158" name="Google Shape;158;p10"/>
          <p:cNvSpPr txBox="1"/>
          <p:nvPr/>
        </p:nvSpPr>
        <p:spPr>
          <a:xfrm>
            <a:off x="787400" y="3289300"/>
            <a:ext cx="9399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2241C"/>
                </a:solidFill>
              </a:rPr>
              <a:t>Agency team</a:t>
            </a:r>
            <a:endParaRPr b="1" sz="1250">
              <a:solidFill>
                <a:srgbClr val="12241C"/>
              </a:solidFill>
            </a:endParaRPr>
          </a:p>
        </p:txBody>
      </p:sp>
      <p:sp>
        <p:nvSpPr>
          <p:cNvPr id="159" name="Google Shape;159;p10"/>
          <p:cNvSpPr/>
          <p:nvPr/>
        </p:nvSpPr>
        <p:spPr>
          <a:xfrm>
            <a:off x="2146300" y="2794000"/>
            <a:ext cx="1460400" cy="1079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10"/>
          <p:cNvSpPr txBox="1"/>
          <p:nvPr/>
        </p:nvSpPr>
        <p:spPr>
          <a:xfrm>
            <a:off x="2273300" y="2997200"/>
            <a:ext cx="12066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26B46"/>
                </a:solidFill>
              </a:rPr>
              <a:t>NEXT.JS</a:t>
            </a:r>
            <a:endParaRPr b="1" sz="950">
              <a:solidFill>
                <a:srgbClr val="126B46"/>
              </a:solidFill>
            </a:endParaRPr>
          </a:p>
        </p:txBody>
      </p:sp>
      <p:sp>
        <p:nvSpPr>
          <p:cNvPr id="161" name="Google Shape;161;p10"/>
          <p:cNvSpPr txBox="1"/>
          <p:nvPr/>
        </p:nvSpPr>
        <p:spPr>
          <a:xfrm>
            <a:off x="2247900" y="3289300"/>
            <a:ext cx="12573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2241C"/>
                </a:solidFill>
              </a:rPr>
              <a:t>Vercel app</a:t>
            </a:r>
            <a:endParaRPr b="1" sz="1250">
              <a:solidFill>
                <a:srgbClr val="12241C"/>
              </a:solidFill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3924300" y="2794000"/>
            <a:ext cx="1333500" cy="10794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"/>
          <p:cNvSpPr txBox="1"/>
          <p:nvPr/>
        </p:nvSpPr>
        <p:spPr>
          <a:xfrm>
            <a:off x="4051300" y="2997200"/>
            <a:ext cx="10794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26B46"/>
                </a:solidFill>
              </a:rPr>
              <a:t>GEMINI</a:t>
            </a:r>
            <a:endParaRPr b="1" sz="950">
              <a:solidFill>
                <a:srgbClr val="126B46"/>
              </a:solidFill>
            </a:endParaRPr>
          </a:p>
        </p:txBody>
      </p:sp>
      <p:sp>
        <p:nvSpPr>
          <p:cNvPr id="164" name="Google Shape;164;p10"/>
          <p:cNvSpPr txBox="1"/>
          <p:nvPr/>
        </p:nvSpPr>
        <p:spPr>
          <a:xfrm>
            <a:off x="4025900" y="3289300"/>
            <a:ext cx="11304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2241C"/>
                </a:solidFill>
              </a:rPr>
              <a:t>Drafts criteria</a:t>
            </a:r>
            <a:endParaRPr b="1" sz="1250">
              <a:solidFill>
                <a:srgbClr val="12241C"/>
              </a:solidFill>
            </a:endParaRPr>
          </a:p>
        </p:txBody>
      </p:sp>
      <p:sp>
        <p:nvSpPr>
          <p:cNvPr id="165" name="Google Shape;165;p10"/>
          <p:cNvSpPr/>
          <p:nvPr/>
        </p:nvSpPr>
        <p:spPr>
          <a:xfrm>
            <a:off x="5575300" y="2794000"/>
            <a:ext cx="1587600" cy="1079400"/>
          </a:xfrm>
          <a:prstGeom prst="roundRect">
            <a:avLst>
              <a:gd fmla="val 16667" name="adj"/>
            </a:avLst>
          </a:prstGeom>
          <a:solidFill>
            <a:srgbClr val="126B4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"/>
          <p:cNvSpPr txBox="1"/>
          <p:nvPr/>
        </p:nvSpPr>
        <p:spPr>
          <a:xfrm>
            <a:off x="5702300" y="2997200"/>
            <a:ext cx="13335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FFFFFF"/>
                </a:solidFill>
              </a:rPr>
              <a:t>HUMAN GATE</a:t>
            </a:r>
            <a:endParaRPr b="1" sz="950">
              <a:solidFill>
                <a:srgbClr val="FFFFFF"/>
              </a:solidFill>
            </a:endParaRPr>
          </a:p>
        </p:txBody>
      </p:sp>
      <p:sp>
        <p:nvSpPr>
          <p:cNvPr id="167" name="Google Shape;167;p10"/>
          <p:cNvSpPr txBox="1"/>
          <p:nvPr/>
        </p:nvSpPr>
        <p:spPr>
          <a:xfrm>
            <a:off x="5676900" y="3289300"/>
            <a:ext cx="13842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FFFFFF"/>
                </a:solidFill>
              </a:rPr>
              <a:t>Confirms + validates</a:t>
            </a:r>
            <a:endParaRPr b="1" sz="1250">
              <a:solidFill>
                <a:srgbClr val="FFFFFF"/>
              </a:solidFill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7480300" y="2794000"/>
            <a:ext cx="1778100" cy="1079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0"/>
          <p:cNvSpPr txBox="1"/>
          <p:nvPr/>
        </p:nvSpPr>
        <p:spPr>
          <a:xfrm>
            <a:off x="7607300" y="2997200"/>
            <a:ext cx="15240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26B46"/>
                </a:solidFill>
              </a:rPr>
              <a:t>CLOUDFLARE</a:t>
            </a:r>
            <a:endParaRPr b="1" sz="950">
              <a:solidFill>
                <a:srgbClr val="126B46"/>
              </a:solidFill>
            </a:endParaRPr>
          </a:p>
        </p:txBody>
      </p:sp>
      <p:sp>
        <p:nvSpPr>
          <p:cNvPr id="170" name="Google Shape;170;p10"/>
          <p:cNvSpPr txBox="1"/>
          <p:nvPr/>
        </p:nvSpPr>
        <p:spPr>
          <a:xfrm>
            <a:off x="7581900" y="3289300"/>
            <a:ext cx="15747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2241C"/>
                </a:solidFill>
              </a:rPr>
              <a:t>Queue + browser worker</a:t>
            </a:r>
            <a:endParaRPr b="1" sz="1250">
              <a:solidFill>
                <a:srgbClr val="12241C"/>
              </a:solidFill>
            </a:endParaRPr>
          </a:p>
        </p:txBody>
      </p:sp>
      <p:sp>
        <p:nvSpPr>
          <p:cNvPr id="171" name="Google Shape;171;p10"/>
          <p:cNvSpPr/>
          <p:nvPr/>
        </p:nvSpPr>
        <p:spPr>
          <a:xfrm>
            <a:off x="9575800" y="2794000"/>
            <a:ext cx="1930500" cy="1079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0"/>
          <p:cNvSpPr txBox="1"/>
          <p:nvPr/>
        </p:nvSpPr>
        <p:spPr>
          <a:xfrm>
            <a:off x="9702800" y="2997200"/>
            <a:ext cx="16764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26B46"/>
                </a:solidFill>
              </a:rPr>
              <a:t>TARGET</a:t>
            </a:r>
            <a:endParaRPr b="1" sz="950">
              <a:solidFill>
                <a:srgbClr val="126B46"/>
              </a:solidFill>
            </a:endParaRPr>
          </a:p>
        </p:txBody>
      </p:sp>
      <p:sp>
        <p:nvSpPr>
          <p:cNvPr id="173" name="Google Shape;173;p10"/>
          <p:cNvSpPr txBox="1"/>
          <p:nvPr/>
        </p:nvSpPr>
        <p:spPr>
          <a:xfrm>
            <a:off x="9677400" y="3289300"/>
            <a:ext cx="1727100" cy="40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2241C"/>
                </a:solidFill>
              </a:rPr>
              <a:t>Verified staging site</a:t>
            </a:r>
            <a:endParaRPr b="1" sz="1250">
              <a:solidFill>
                <a:srgbClr val="12241C"/>
              </a:solidFill>
            </a:endParaRPr>
          </a:p>
        </p:txBody>
      </p:sp>
      <p:sp>
        <p:nvSpPr>
          <p:cNvPr id="174" name="Google Shape;174;p10"/>
          <p:cNvSpPr/>
          <p:nvPr/>
        </p:nvSpPr>
        <p:spPr>
          <a:xfrm>
            <a:off x="7353300" y="4826000"/>
            <a:ext cx="2031900" cy="8889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0"/>
          <p:cNvSpPr txBox="1"/>
          <p:nvPr/>
        </p:nvSpPr>
        <p:spPr>
          <a:xfrm>
            <a:off x="7505700" y="4991100"/>
            <a:ext cx="17271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26B46"/>
                </a:solidFill>
              </a:rPr>
              <a:t>SUPABASE</a:t>
            </a:r>
            <a:endParaRPr b="1" sz="950">
              <a:solidFill>
                <a:srgbClr val="126B46"/>
              </a:solidFill>
            </a:endParaRPr>
          </a:p>
        </p:txBody>
      </p:sp>
      <p:sp>
        <p:nvSpPr>
          <p:cNvPr id="176" name="Google Shape;176;p10"/>
          <p:cNvSpPr txBox="1"/>
          <p:nvPr/>
        </p:nvSpPr>
        <p:spPr>
          <a:xfrm>
            <a:off x="7505700" y="5283200"/>
            <a:ext cx="1727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2241C"/>
                </a:solidFill>
              </a:rPr>
              <a:t>Private evidence</a:t>
            </a:r>
            <a:endParaRPr b="1" sz="1200">
              <a:solidFill>
                <a:srgbClr val="12241C"/>
              </a:solidFill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9779000" y="4826000"/>
            <a:ext cx="1727100" cy="8889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0"/>
          <p:cNvSpPr txBox="1"/>
          <p:nvPr/>
        </p:nvSpPr>
        <p:spPr>
          <a:xfrm>
            <a:off x="9931400" y="4991100"/>
            <a:ext cx="1422300" cy="20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26B46"/>
                </a:solidFill>
              </a:rPr>
              <a:t>CLIENT</a:t>
            </a:r>
            <a:endParaRPr b="1" sz="950">
              <a:solidFill>
                <a:srgbClr val="126B46"/>
              </a:solidFill>
            </a:endParaRPr>
          </a:p>
        </p:txBody>
      </p:sp>
      <p:sp>
        <p:nvSpPr>
          <p:cNvPr id="179" name="Google Shape;179;p10"/>
          <p:cNvSpPr txBox="1"/>
          <p:nvPr/>
        </p:nvSpPr>
        <p:spPr>
          <a:xfrm>
            <a:off x="9931400" y="5283200"/>
            <a:ext cx="1422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2241C"/>
                </a:solidFill>
              </a:rPr>
              <a:t>Review + record</a:t>
            </a:r>
            <a:endParaRPr b="1" sz="1200">
              <a:solidFill>
                <a:srgbClr val="12241C"/>
              </a:solidFill>
            </a:endParaRPr>
          </a:p>
        </p:txBody>
      </p:sp>
      <p:sp>
        <p:nvSpPr>
          <p:cNvPr id="180" name="Google Shape;180;p10"/>
          <p:cNvSpPr/>
          <p:nvPr/>
        </p:nvSpPr>
        <p:spPr>
          <a:xfrm>
            <a:off x="685800" y="6019800"/>
            <a:ext cx="10820400" cy="5079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"/>
          <p:cNvSpPr txBox="1"/>
          <p:nvPr/>
        </p:nvSpPr>
        <p:spPr>
          <a:xfrm>
            <a:off x="990600" y="6146800"/>
            <a:ext cx="1021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12241C"/>
                </a:solidFill>
              </a:rPr>
              <a:t>Gemini drafts. People confirm. The runner observes. The client decides.</a:t>
            </a:r>
            <a:endParaRPr b="1" sz="1300">
              <a:solidFill>
                <a:srgbClr val="12241C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1"/>
          <p:cNvSpPr txBox="1"/>
          <p:nvPr/>
        </p:nvSpPr>
        <p:spPr>
          <a:xfrm>
            <a:off x="685800" y="361950"/>
            <a:ext cx="3174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6655D"/>
                </a:solidFill>
              </a:rPr>
              <a:t>GREENLIT · BLUEPRINT 2026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188" name="Google Shape;188;p11"/>
          <p:cNvSpPr txBox="1"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6655D"/>
                </a:solidFill>
              </a:rPr>
              <a:t>09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189" name="Google Shape;189;p11"/>
          <p:cNvSpPr txBox="1"/>
          <p:nvPr/>
        </p:nvSpPr>
        <p:spPr>
          <a:xfrm>
            <a:off x="685800" y="990600"/>
            <a:ext cx="10820400" cy="88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12241C"/>
                </a:solidFill>
              </a:rPr>
              <a:t>Four boundaries keep AI in its lane.</a:t>
            </a:r>
            <a:endParaRPr sz="3600">
              <a:solidFill>
                <a:srgbClr val="12241C"/>
              </a:solidFill>
            </a:endParaRPr>
          </a:p>
        </p:txBody>
      </p:sp>
      <p:sp>
        <p:nvSpPr>
          <p:cNvPr id="190" name="Google Shape;190;p11"/>
          <p:cNvSpPr/>
          <p:nvPr/>
        </p:nvSpPr>
        <p:spPr>
          <a:xfrm>
            <a:off x="685800" y="2222500"/>
            <a:ext cx="5143500" cy="1549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11"/>
          <p:cNvSpPr/>
          <p:nvPr/>
        </p:nvSpPr>
        <p:spPr>
          <a:xfrm>
            <a:off x="939800" y="2501900"/>
            <a:ext cx="609600" cy="6096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1"/>
          <p:cNvSpPr txBox="1"/>
          <p:nvPr/>
        </p:nvSpPr>
        <p:spPr>
          <a:xfrm>
            <a:off x="939800" y="2654300"/>
            <a:ext cx="6096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26B46"/>
                </a:solidFill>
              </a:rPr>
              <a:t>01</a:t>
            </a:r>
            <a:endParaRPr b="1">
              <a:solidFill>
                <a:srgbClr val="126B46"/>
              </a:solidFill>
            </a:endParaRPr>
          </a:p>
        </p:txBody>
      </p:sp>
      <p:sp>
        <p:nvSpPr>
          <p:cNvPr id="193" name="Google Shape;193;p11"/>
          <p:cNvSpPr txBox="1"/>
          <p:nvPr/>
        </p:nvSpPr>
        <p:spPr>
          <a:xfrm>
            <a:off x="1803400" y="2501900"/>
            <a:ext cx="35052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2241C"/>
                </a:solidFill>
              </a:rPr>
              <a:t>Selected text only</a:t>
            </a:r>
            <a:endParaRPr b="1" sz="1800">
              <a:solidFill>
                <a:srgbClr val="12241C"/>
              </a:solidFill>
            </a:endParaRPr>
          </a:p>
        </p:txBody>
      </p:sp>
      <p:sp>
        <p:nvSpPr>
          <p:cNvPr id="194" name="Google Shape;194;p11"/>
          <p:cNvSpPr txBox="1"/>
          <p:nvPr/>
        </p:nvSpPr>
        <p:spPr>
          <a:xfrm>
            <a:off x="1803400" y="2946400"/>
            <a:ext cx="35052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56655D"/>
                </a:solidFill>
              </a:rPr>
              <a:t>Gemini sees only the source text needed to draft.</a:t>
            </a:r>
            <a:endParaRPr sz="1350">
              <a:solidFill>
                <a:srgbClr val="56655D"/>
              </a:solidFill>
            </a:endParaRPr>
          </a:p>
        </p:txBody>
      </p:sp>
      <p:sp>
        <p:nvSpPr>
          <p:cNvPr id="195" name="Google Shape;195;p11"/>
          <p:cNvSpPr/>
          <p:nvPr/>
        </p:nvSpPr>
        <p:spPr>
          <a:xfrm>
            <a:off x="6362700" y="2222500"/>
            <a:ext cx="5143500" cy="1549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1"/>
          <p:cNvSpPr/>
          <p:nvPr/>
        </p:nvSpPr>
        <p:spPr>
          <a:xfrm>
            <a:off x="6616700" y="2501900"/>
            <a:ext cx="609600" cy="6096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1"/>
          <p:cNvSpPr txBox="1"/>
          <p:nvPr/>
        </p:nvSpPr>
        <p:spPr>
          <a:xfrm>
            <a:off x="6616700" y="2654300"/>
            <a:ext cx="6096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26B46"/>
                </a:solidFill>
              </a:rPr>
              <a:t>02</a:t>
            </a:r>
            <a:endParaRPr b="1">
              <a:solidFill>
                <a:srgbClr val="126B46"/>
              </a:solidFill>
            </a:endParaRPr>
          </a:p>
        </p:txBody>
      </p:sp>
      <p:sp>
        <p:nvSpPr>
          <p:cNvPr id="198" name="Google Shape;198;p11"/>
          <p:cNvSpPr txBox="1"/>
          <p:nvPr/>
        </p:nvSpPr>
        <p:spPr>
          <a:xfrm>
            <a:off x="7480300" y="2501900"/>
            <a:ext cx="35052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2241C"/>
                </a:solidFill>
              </a:rPr>
              <a:t>Human confirmed</a:t>
            </a:r>
            <a:endParaRPr b="1" sz="1800">
              <a:solidFill>
                <a:srgbClr val="12241C"/>
              </a:solidFill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7480300" y="2946400"/>
            <a:ext cx="35052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56655D"/>
                </a:solidFill>
              </a:rPr>
              <a:t>Nothing runs until a person approves the criteria.</a:t>
            </a:r>
            <a:endParaRPr sz="1350">
              <a:solidFill>
                <a:srgbClr val="56655D"/>
              </a:solidFill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685800" y="4127500"/>
            <a:ext cx="5143500" cy="1549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939800" y="4406900"/>
            <a:ext cx="609600" cy="6096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1"/>
          <p:cNvSpPr txBox="1"/>
          <p:nvPr/>
        </p:nvSpPr>
        <p:spPr>
          <a:xfrm>
            <a:off x="939800" y="4559300"/>
            <a:ext cx="6096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26B46"/>
                </a:solidFill>
              </a:rPr>
              <a:t>03</a:t>
            </a:r>
            <a:endParaRPr b="1">
              <a:solidFill>
                <a:srgbClr val="126B46"/>
              </a:solidFill>
            </a:endParaRPr>
          </a:p>
        </p:txBody>
      </p:sp>
      <p:sp>
        <p:nvSpPr>
          <p:cNvPr id="203" name="Google Shape;203;p11"/>
          <p:cNvSpPr txBox="1"/>
          <p:nvPr/>
        </p:nvSpPr>
        <p:spPr>
          <a:xfrm>
            <a:off x="1803400" y="4406900"/>
            <a:ext cx="35052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2241C"/>
                </a:solidFill>
              </a:rPr>
              <a:t>Typed and signed</a:t>
            </a:r>
            <a:endParaRPr b="1" sz="1800">
              <a:solidFill>
                <a:srgbClr val="12241C"/>
              </a:solidFill>
            </a:endParaRPr>
          </a:p>
        </p:txBody>
      </p:sp>
      <p:sp>
        <p:nvSpPr>
          <p:cNvPr id="204" name="Google Shape;204;p11"/>
          <p:cNvSpPr txBox="1"/>
          <p:nvPr/>
        </p:nvSpPr>
        <p:spPr>
          <a:xfrm>
            <a:off x="1803400" y="4851400"/>
            <a:ext cx="35052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56655D"/>
                </a:solidFill>
              </a:rPr>
              <a:t>The runner gets allowlisted checks and a signed job ID.</a:t>
            </a:r>
            <a:endParaRPr sz="1350">
              <a:solidFill>
                <a:srgbClr val="56655D"/>
              </a:solidFill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6362700" y="4127500"/>
            <a:ext cx="5143500" cy="1549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C1CDC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1"/>
          <p:cNvSpPr/>
          <p:nvPr/>
        </p:nvSpPr>
        <p:spPr>
          <a:xfrm>
            <a:off x="6616700" y="4406900"/>
            <a:ext cx="609600" cy="609600"/>
          </a:xfrm>
          <a:prstGeom prst="roundRect">
            <a:avLst>
              <a:gd fmla="val 16667" name="adj"/>
            </a:avLst>
          </a:prstGeom>
          <a:solidFill>
            <a:srgbClr val="DCE8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1"/>
          <p:cNvSpPr txBox="1"/>
          <p:nvPr/>
        </p:nvSpPr>
        <p:spPr>
          <a:xfrm>
            <a:off x="6616700" y="4559300"/>
            <a:ext cx="609600" cy="27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26B46"/>
                </a:solidFill>
              </a:rPr>
              <a:t>04</a:t>
            </a:r>
            <a:endParaRPr b="1">
              <a:solidFill>
                <a:srgbClr val="126B46"/>
              </a:solidFill>
            </a:endParaRPr>
          </a:p>
        </p:txBody>
      </p:sp>
      <p:sp>
        <p:nvSpPr>
          <p:cNvPr id="208" name="Google Shape;208;p11"/>
          <p:cNvSpPr txBox="1"/>
          <p:nvPr/>
        </p:nvSpPr>
        <p:spPr>
          <a:xfrm>
            <a:off x="7480300" y="4406900"/>
            <a:ext cx="3505200" cy="3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2241C"/>
                </a:solidFill>
              </a:rPr>
              <a:t>Private evidence</a:t>
            </a:r>
            <a:endParaRPr b="1" sz="1800">
              <a:solidFill>
                <a:srgbClr val="12241C"/>
              </a:solidFill>
            </a:endParaRPr>
          </a:p>
        </p:txBody>
      </p:sp>
      <p:sp>
        <p:nvSpPr>
          <p:cNvPr id="209" name="Google Shape;209;p11"/>
          <p:cNvSpPr txBox="1"/>
          <p:nvPr/>
        </p:nvSpPr>
        <p:spPr>
          <a:xfrm>
            <a:off x="7480300" y="4851400"/>
            <a:ext cx="35052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>
                <a:solidFill>
                  <a:srgbClr val="56655D"/>
                </a:solidFill>
              </a:rPr>
              <a:t>Results stay in Supabase with expiring access.</a:t>
            </a:r>
            <a:endParaRPr sz="1350">
              <a:solidFill>
                <a:srgbClr val="56655D"/>
              </a:solidFill>
            </a:endParaRPr>
          </a:p>
        </p:txBody>
      </p:sp>
      <p:sp>
        <p:nvSpPr>
          <p:cNvPr id="210" name="Google Shape;210;p11"/>
          <p:cNvSpPr txBox="1"/>
          <p:nvPr/>
        </p:nvSpPr>
        <p:spPr>
          <a:xfrm>
            <a:off x="685800" y="6121400"/>
            <a:ext cx="108204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50">
                <a:solidFill>
                  <a:srgbClr val="126B46"/>
                </a:solidFill>
              </a:rPr>
              <a:t>AI proposes the criteria. People approve them. Every run stays repeatable.</a:t>
            </a:r>
            <a:endParaRPr b="1" sz="1250">
              <a:solidFill>
                <a:srgbClr val="126B46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5EF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2"/>
          <p:cNvSpPr/>
          <p:nvPr/>
        </p:nvSpPr>
        <p:spPr>
          <a:xfrm>
            <a:off x="685800" y="876300"/>
            <a:ext cx="95250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4200"/>
              <a:buFont typeface="Arial"/>
              <a:buNone/>
            </a:pPr>
            <a:r>
              <a:rPr i="0" lang="en-US" sz="4200">
                <a:solidFill>
                  <a:srgbClr val="12241C"/>
                </a:solidFill>
              </a:rPr>
              <a:t>Built during the hackathon, tested end to end.</a:t>
            </a:r>
            <a:endParaRPr/>
          </a:p>
        </p:txBody>
      </p:sp>
      <p:sp>
        <p:nvSpPr>
          <p:cNvPr id="217" name="Google Shape;217;p12"/>
          <p:cNvSpPr/>
          <p:nvPr/>
        </p:nvSpPr>
        <p:spPr>
          <a:xfrm>
            <a:off x="685800" y="2428875"/>
            <a:ext cx="10820400" cy="28575"/>
          </a:xfrm>
          <a:prstGeom prst="rect">
            <a:avLst/>
          </a:prstGeom>
          <a:solidFill>
            <a:srgbClr val="12241C"/>
          </a:solidFill>
          <a:ln cap="flat" cmpd="sng" w="9525">
            <a:solidFill>
              <a:srgbClr val="1224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2"/>
          <p:cNvSpPr/>
          <p:nvPr/>
        </p:nvSpPr>
        <p:spPr>
          <a:xfrm>
            <a:off x="685800" y="3000375"/>
            <a:ext cx="14289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75"/>
              <a:buFont typeface="Arial"/>
              <a:buNone/>
            </a:pPr>
            <a:r>
              <a:rPr i="0" lang="en-US" sz="1875">
                <a:solidFill>
                  <a:srgbClr val="12241C"/>
                </a:solidFill>
              </a:rPr>
              <a:t>Build</a:t>
            </a:r>
            <a:endParaRPr/>
          </a:p>
        </p:txBody>
      </p:sp>
      <p:sp>
        <p:nvSpPr>
          <p:cNvPr id="219" name="Google Shape;219;p12"/>
          <p:cNvSpPr/>
          <p:nvPr/>
        </p:nvSpPr>
        <p:spPr>
          <a:xfrm>
            <a:off x="2333625" y="3000375"/>
            <a:ext cx="847725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725"/>
              <a:buFont typeface="Arial"/>
              <a:buNone/>
            </a:pPr>
            <a:r>
              <a:rPr i="0" lang="en-US" sz="1725">
                <a:solidFill>
                  <a:srgbClr val="12241C"/>
                </a:solidFill>
              </a:rPr>
              <a:t>Built from scratch during Blueprint 2026 as a full agency-to-client flow.</a:t>
            </a:r>
            <a:endParaRPr/>
          </a:p>
        </p:txBody>
      </p:sp>
      <p:sp>
        <p:nvSpPr>
          <p:cNvPr id="220" name="Google Shape;220;p12"/>
          <p:cNvSpPr/>
          <p:nvPr/>
        </p:nvSpPr>
        <p:spPr>
          <a:xfrm>
            <a:off x="685800" y="3829050"/>
            <a:ext cx="14287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75"/>
              <a:buFont typeface="Arial"/>
              <a:buNone/>
            </a:pPr>
            <a:r>
              <a:rPr i="0" lang="en-US" sz="1875">
                <a:solidFill>
                  <a:srgbClr val="12241C"/>
                </a:solidFill>
              </a:rPr>
              <a:t>Verify</a:t>
            </a:r>
            <a:endParaRPr/>
          </a:p>
        </p:txBody>
      </p:sp>
      <p:sp>
        <p:nvSpPr>
          <p:cNvPr id="221" name="Google Shape;221;p12"/>
          <p:cNvSpPr/>
          <p:nvPr/>
        </p:nvSpPr>
        <p:spPr>
          <a:xfrm>
            <a:off x="2333625" y="3829050"/>
            <a:ext cx="847725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725"/>
              <a:buFont typeface="Arial"/>
              <a:buNone/>
            </a:pPr>
            <a:r>
              <a:rPr i="0" lang="en-US" sz="1725">
                <a:solidFill>
                  <a:srgbClr val="12241C"/>
                </a:solidFill>
              </a:rPr>
              <a:t>Typecheck, lint, tests, build, migrations, and browser flows all passed.</a:t>
            </a:r>
            <a:endParaRPr/>
          </a:p>
        </p:txBody>
      </p:sp>
      <p:sp>
        <p:nvSpPr>
          <p:cNvPr id="222" name="Google Shape;222;p12"/>
          <p:cNvSpPr/>
          <p:nvPr/>
        </p:nvSpPr>
        <p:spPr>
          <a:xfrm>
            <a:off x="685800" y="4657725"/>
            <a:ext cx="14287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875"/>
              <a:buFont typeface="Arial"/>
              <a:buNone/>
            </a:pPr>
            <a:r>
              <a:rPr i="0" lang="en-US" sz="1875">
                <a:solidFill>
                  <a:srgbClr val="12241C"/>
                </a:solidFill>
              </a:rPr>
              <a:t>Explore</a:t>
            </a:r>
            <a:endParaRPr/>
          </a:p>
        </p:txBody>
      </p:sp>
      <p:sp>
        <p:nvSpPr>
          <p:cNvPr id="223" name="Google Shape;223;p12"/>
          <p:cNvSpPr/>
          <p:nvPr/>
        </p:nvSpPr>
        <p:spPr>
          <a:xfrm>
            <a:off x="2333625" y="4657725"/>
            <a:ext cx="8477250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725"/>
              <a:buFont typeface="Arial"/>
              <a:buNone/>
            </a:pPr>
            <a:r>
              <a:rPr i="0" lang="en-US" sz="1725">
                <a:solidFill>
                  <a:srgbClr val="12241C"/>
                </a:solidFill>
              </a:rPr>
              <a:t>Try the live walkthrough, then review the source and architecture.</a:t>
            </a:r>
            <a:endParaRPr/>
          </a:p>
        </p:txBody>
      </p:sp>
      <p:sp>
        <p:nvSpPr>
          <p:cNvPr id="224" name="Google Shape;224;p12"/>
          <p:cNvSpPr/>
          <p:nvPr/>
        </p:nvSpPr>
        <p:spPr>
          <a:xfrm>
            <a:off x="685800" y="5572125"/>
            <a:ext cx="7524750" cy="666750"/>
          </a:xfrm>
          <a:prstGeom prst="rect">
            <a:avLst/>
          </a:prstGeom>
          <a:solidFill>
            <a:srgbClr val="12241C"/>
          </a:solidFill>
          <a:ln cap="flat" cmpd="sng" w="9525">
            <a:solidFill>
              <a:srgbClr val="1224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2"/>
          <p:cNvSpPr/>
          <p:nvPr/>
        </p:nvSpPr>
        <p:spPr>
          <a:xfrm>
            <a:off x="813350" y="5743500"/>
            <a:ext cx="7029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EFA"/>
              </a:buClr>
              <a:buSzPts val="1725"/>
              <a:buFont typeface="Arial"/>
              <a:buNone/>
            </a:pPr>
            <a:r>
              <a:rPr i="0" lang="en-US" sz="1725">
                <a:solidFill>
                  <a:srgbClr val="FFFEFA"/>
                </a:solidFill>
              </a:rPr>
              <a:t>greenlitproof.vercel.app</a:t>
            </a:r>
            <a:endParaRPr/>
          </a:p>
        </p:txBody>
      </p:sp>
      <p:sp>
        <p:nvSpPr>
          <p:cNvPr id="226" name="Google Shape;226;p12"/>
          <p:cNvSpPr/>
          <p:nvPr/>
        </p:nvSpPr>
        <p:spPr>
          <a:xfrm>
            <a:off x="8715375" y="5657850"/>
            <a:ext cx="2790825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275"/>
              <a:buFont typeface="Arial"/>
              <a:buNone/>
            </a:pPr>
            <a:r>
              <a:rPr i="0" lang="en-US" sz="1275">
                <a:solidFill>
                  <a:srgbClr val="12241C"/>
                </a:solidFill>
              </a:rPr>
              <a:t>github.com/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12241C"/>
              </a:buClr>
              <a:buSzPts val="1275"/>
              <a:buFont typeface="Arial"/>
              <a:buNone/>
            </a:pPr>
            <a:r>
              <a:rPr i="0" lang="en-US" sz="1275">
                <a:solidFill>
                  <a:srgbClr val="12241C"/>
                </a:solidFill>
              </a:rPr>
              <a:t>anayagarwalla-ai/greenlit</a:t>
            </a:r>
            <a:endParaRPr/>
          </a:p>
        </p:txBody>
      </p:sp>
      <p:sp>
        <p:nvSpPr>
          <p:cNvPr id="227" name="Google Shape;227;p12"/>
          <p:cNvSpPr txBox="1"/>
          <p:nvPr/>
        </p:nvSpPr>
        <p:spPr>
          <a:xfrm>
            <a:off x="11049000" y="36195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6655D"/>
                </a:solidFill>
              </a:rPr>
              <a:t>10</a:t>
            </a:r>
            <a:endParaRPr b="1" sz="975">
              <a:solidFill>
                <a:srgbClr val="56655D"/>
              </a:solidFill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596900" y="279400"/>
            <a:ext cx="2412900" cy="342900"/>
          </a:xfrm>
          <a:prstGeom prst="roundRect">
            <a:avLst>
              <a:gd fmla="val 16667" name="adj"/>
            </a:avLst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75">
                <a:solidFill>
                  <a:srgbClr val="56655D"/>
                </a:solidFill>
              </a:rPr>
              <a:t>GREENLIT · BLUEPRINT 2026</a:t>
            </a:r>
            <a:endParaRPr b="1" sz="975">
              <a:solidFill>
                <a:srgbClr val="56655D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