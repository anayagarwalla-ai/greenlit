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acab41f747644bb4" /><Relationship Type="http://schemas.openxmlformats.org/officeDocument/2006/relationships/extended-properties" Target="/docProps/app.xml" Id="R125b3001a8fc4957" /><Relationship Type="http://schemas.openxmlformats.org/officeDocument/2006/relationships/officeDocument" Target="/ppt/presentation.xml" Id="Rb8a07370f1f34f69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2769766f0b60465f"/>
  </p:sldMasterIdLst>
  <p:notesMasterIdLst>
    <p:notesMasterId xmlns:r="http://schemas.openxmlformats.org/officeDocument/2006/relationships" r:id="R5c55253ac2c3445c"/>
  </p:notesMasterIdLst>
  <p:sldIdLst>
    <p:sldId xmlns:r="http://schemas.openxmlformats.org/officeDocument/2006/relationships" id="256" r:id="R02f27111e1eb4a99"/>
    <p:sldId xmlns:r="http://schemas.openxmlformats.org/officeDocument/2006/relationships" id="257" r:id="Recbbef1573164f24"/>
    <p:sldId xmlns:r="http://schemas.openxmlformats.org/officeDocument/2006/relationships" id="258" r:id="Ra5599247eab2447d"/>
    <p:sldId xmlns:r="http://schemas.openxmlformats.org/officeDocument/2006/relationships" id="259" r:id="R0f96323c19804100"/>
    <p:sldId xmlns:r="http://schemas.openxmlformats.org/officeDocument/2006/relationships" id="260" r:id="R0f3858bffd844598"/>
    <p:sldId xmlns:r="http://schemas.openxmlformats.org/officeDocument/2006/relationships" id="261" r:id="R14cd09e0c8f045f5"/>
    <p:sldId xmlns:r="http://schemas.openxmlformats.org/officeDocument/2006/relationships" id="262" r:id="Rc8270e29d6b344a6"/>
    <p:sldId xmlns:r="http://schemas.openxmlformats.org/officeDocument/2006/relationships" id="263" r:id="Raeb7a5fb58e94175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3804e7c97bb34430" /><Relationship Type="http://schemas.openxmlformats.org/officeDocument/2006/relationships/slideMaster" Target="/ppt/slideMasters/slideMaster1.xml" Id="R2769766f0b60465f" /><Relationship Type="http://schemas.openxmlformats.org/officeDocument/2006/relationships/notesMaster" Target="/ppt/notesMasters/notesMaster1.xml" Id="R5c55253ac2c3445c" /><Relationship Type="http://schemas.openxmlformats.org/officeDocument/2006/relationships/presProps" Target="/ppt/presProps.xml" Id="Rfbc14dfc6cd340a1" /><Relationship Type="http://schemas.openxmlformats.org/officeDocument/2006/relationships/tableStyles" Target="/ppt/tableStyles.xml" Id="Rff19ff364dd24731" /><Relationship Type="http://schemas.openxmlformats.org/officeDocument/2006/relationships/slide" Target="/ppt/slides/slide1.xml" Id="R02f27111e1eb4a99" /><Relationship Type="http://schemas.openxmlformats.org/officeDocument/2006/relationships/slide" Target="/ppt/slides/slide2.xml" Id="Recbbef1573164f24" /><Relationship Type="http://schemas.openxmlformats.org/officeDocument/2006/relationships/slide" Target="/ppt/slides/slide3.xml" Id="Ra5599247eab2447d" /><Relationship Type="http://schemas.openxmlformats.org/officeDocument/2006/relationships/slide" Target="/ppt/slides/slide4.xml" Id="R0f96323c19804100" /><Relationship Type="http://schemas.openxmlformats.org/officeDocument/2006/relationships/slide" Target="/ppt/slides/slide5.xml" Id="R0f3858bffd844598" /><Relationship Type="http://schemas.openxmlformats.org/officeDocument/2006/relationships/slide" Target="/ppt/slides/slide6.xml" Id="R14cd09e0c8f045f5" /><Relationship Type="http://schemas.openxmlformats.org/officeDocument/2006/relationships/slide" Target="/ppt/slides/slide7.xml" Id="Rc8270e29d6b344a6" /><Relationship Type="http://schemas.openxmlformats.org/officeDocument/2006/relationships/slide" Target="/ppt/slides/slide8.xml" Id="Raeb7a5fb58e94175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7f9bd293e36740fd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9a48fc99da204b22" /><Relationship Type="http://schemas.openxmlformats.org/officeDocument/2006/relationships/notesMaster" Target="/ppt/notesMasters/notesMaster1.xml" Id="Rf810d7b9ec164fcf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66fc778547e84ab2" /><Relationship Type="http://schemas.openxmlformats.org/officeDocument/2006/relationships/notesMaster" Target="/ppt/notesMasters/notesMaster1.xml" Id="R6cfb8c8b37af4007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fe1dbbddd7c4d55" /><Relationship Type="http://schemas.openxmlformats.org/officeDocument/2006/relationships/notesMaster" Target="/ppt/notesMasters/notesMaster1.xml" Id="R30beda6337c543f8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57986d51e0074782" /><Relationship Type="http://schemas.openxmlformats.org/officeDocument/2006/relationships/notesMaster" Target="/ppt/notesMasters/notesMaster1.xml" Id="R02b151e7ea274b7d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d125eb1cad724eac" /><Relationship Type="http://schemas.openxmlformats.org/officeDocument/2006/relationships/notesMaster" Target="/ppt/notesMasters/notesMaster1.xml" Id="Rd366098d1cb54716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f03c8b8d94ce4ab5" /><Relationship Type="http://schemas.openxmlformats.org/officeDocument/2006/relationships/notesMaster" Target="/ppt/notesMasters/notesMaster1.xml" Id="Rbf9af809dbbd465d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4c4a3aa88a6946c0" /><Relationship Type="http://schemas.openxmlformats.org/officeDocument/2006/relationships/notesMaster" Target="/ppt/notesMasters/notesMaster1.xml" Id="Ree1bf56d527946d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bcf637eb8acd437f" /><Relationship Type="http://schemas.openxmlformats.org/officeDocument/2006/relationships/notesMaster" Target="/ppt/notesMasters/notesMaster1.xml" Id="Rd6996e318f73448f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Open with the workflow problem. The walkthrough uses included synthetic data and creates no retained approval.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Greenlit internal product screens and company-demo documentation; synthetic walkthrough; July 26,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Greenlit internal product screens and company-demo documentation; synthetic walkthrough; July 26,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Greenlit internal product screens and company-demo documentation; synthetic walkthrough; July 26,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Greenlit internal product screens and company-demo documentation; synthetic walkthrough; July 26,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Greenlit internal product screens and company-demo documentation; synthetic walkthrough; July 26,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Greenlit internal product screens and company-demo documentation; synthetic walkthrough; July 26,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Greenlit internal product screens and company-demo documentation; synthetic walkthrough; July 26,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Close by qualifying the workflow, not by promising a broad rollout.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Greenlit internal product screens and company-demo documentation; synthetic walkthrough; July 26, 2026.</a:t>
            </a:r>
          </a:p>
          <a:p xmlns:a="http://schemas.openxmlformats.org/drawingml/2006/main">
            <a:r>
              <a:t>[/Sources]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e1116608cb04b9b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86518a1ce5de4696" /><Relationship Type="http://schemas.openxmlformats.org/officeDocument/2006/relationships/slideLayout" Target="/ppt/slideLayouts/slideLayout1.xml" Id="Rc0f6c0476d8646a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0f6c0476d8646a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0d5baabdf414ef3" /><Relationship Type="http://schemas.openxmlformats.org/officeDocument/2006/relationships/image" Target="/ppt/media/image.png" Id="R05a343d12d6b431d" /><Relationship Type="http://schemas.openxmlformats.org/officeDocument/2006/relationships/notesSlide" Target="/ppt/notesSlides/notesSlide1.xml" Id="R9ba255f748534a4e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f1fadf15498407a" /><Relationship Type="http://schemas.openxmlformats.org/officeDocument/2006/relationships/notesSlide" Target="/ppt/notesSlides/notesSlide2.xml" Id="R5652be6da6e74161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44ca4260c814fdc" /><Relationship Type="http://schemas.openxmlformats.org/officeDocument/2006/relationships/notesSlide" Target="/ppt/notesSlides/notesSlide3.xml" Id="R7b0ed9d81845428e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bb150a3a3bd454e" /><Relationship Type="http://schemas.openxmlformats.org/officeDocument/2006/relationships/image" Target="/ppt/media/image2.png" Id="Re335d7d07ad94d53" /><Relationship Type="http://schemas.openxmlformats.org/officeDocument/2006/relationships/notesSlide" Target="/ppt/notesSlides/notesSlide4.xml" Id="R9023cf0ab04a4a20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8fc0f06af944e54" /><Relationship Type="http://schemas.openxmlformats.org/officeDocument/2006/relationships/image" Target="/ppt/media/image3.png" Id="Rc58a51f5215940cb" /><Relationship Type="http://schemas.openxmlformats.org/officeDocument/2006/relationships/notesSlide" Target="/ppt/notesSlides/notesSlide5.xml" Id="R24d25bd65e9a4bf7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eb1cbee87a14b3c" /><Relationship Type="http://schemas.openxmlformats.org/officeDocument/2006/relationships/image" Target="/ppt/media/image4.png" Id="Rfd452879a9be42f6" /><Relationship Type="http://schemas.openxmlformats.org/officeDocument/2006/relationships/notesSlide" Target="/ppt/notesSlides/notesSlide6.xml" Id="R7adb45f82ecd4c32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b8ef1ff0b6c4118" /><Relationship Type="http://schemas.openxmlformats.org/officeDocument/2006/relationships/notesSlide" Target="/ppt/notesSlides/notesSlide7.xml" Id="R836ea8d28a854738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677edbbc7604584" /><Relationship Type="http://schemas.openxmlformats.org/officeDocument/2006/relationships/notesSlide" Target="/ppt/notesSlides/notesSlide8.xml" Id="R549c0995ddbb4401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122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7193F06-511D-4DE4-ADFD-F554073082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0"/>
            <a:ext cx="3857625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61"/>
          </a:solidFill>
          <a:ln xmlns:a="http://schemas.openxmlformats.org/drawingml/2006/main" w="0">
            <a:solidFill>
              <a:srgbClr val="D6FF61"/>
            </a:solidFill>
            <a:prstDash val="solid"/>
          </a:ln>
        </p:spPr>
      </p:sp>
      <p:pic>
        <p:nvPicPr>
          <p:cNvPr id="1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5a343d12d6b431d"/>
          <a:stretch xmlns:a="http://schemas.openxmlformats.org/drawingml/2006/main"/>
        </p:blipFill>
        <p:spPr>
          <a:xfrm xmlns:a="http://schemas.openxmlformats.org/drawingml/2006/main">
            <a:off x="685800" y="535781"/>
            <a:ext cx="2095500" cy="471488"/>
          </a:xfrm>
          <a:prstGeom xmlns:a="http://schemas.openxmlformats.org/drawingml/2006/main" prst="rect">
            <a:avLst/>
          </a:prstGeom>
        </p:spPr>
      </p:pic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1CF7307-FECC-4F6E-92F2-2808184661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52625"/>
            <a:ext cx="7048500" cy="2428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800" b="0" i="0">
                <a:solidFill>
                  <a:srgbClr val="FFFEFA"/>
                </a:solidFill>
              </a:defRPr>
            </a:pPr>
            <a:r>
              <a:rPr sz="4800" b="0" i="0">
                <a:solidFill>
                  <a:srgbClr val="FFFEFA"/>
                </a:solidFill>
              </a:rPr>
              <a:t>Turn finished agency work into proof a client can approve.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19958D6-4694-4822-A1EC-8C6D1FB391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3900" y="4810125"/>
            <a:ext cx="5905500" cy="533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0" i="0">
                <a:solidFill>
                  <a:srgbClr val="EAE6DC"/>
                </a:solidFill>
              </a:defRPr>
            </a:pPr>
            <a:r>
              <a:rPr sz="1800" b="0" i="0">
                <a:solidFill>
                  <a:srgbClr val="EAE6DC"/>
                </a:solidFill>
              </a:rPr>
              <a:t>Acceptance-to-invoice evidence for U.S. web agencies.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4DA3C8B8-5216-4FF4-BD35-FD70D1566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1238250"/>
            <a:ext cx="2714625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125" b="1" i="0">
                <a:solidFill>
                  <a:srgbClr val="12241C"/>
                </a:solidFill>
              </a:defRPr>
            </a:pPr>
            <a:r>
              <a:rPr sz="1125" b="1" i="0">
                <a:solidFill>
                  <a:srgbClr val="12241C"/>
                </a:solidFill>
              </a:rPr>
              <a:t>SYNTHETIC WALKTHROUGH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C3D5674-F484-4201-B445-84146234D7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0" y="2190750"/>
            <a:ext cx="2762250" cy="2000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925" b="0" i="0">
                <a:solidFill>
                  <a:srgbClr val="12241C"/>
                </a:solidFill>
              </a:defRPr>
            </a:pPr>
            <a:r>
              <a:rPr sz="2925" b="0" i="0">
                <a:solidFill>
                  <a:srgbClr val="12241C"/>
                </a:solidFill>
              </a:rPr>
              <a:t>One milestone.</a:t>
            </a:r>
          </a:p>
          <a:p xmlns:a="http://schemas.openxmlformats.org/drawingml/2006/main">
            <a:pPr algn="ctr">
              <a:defRPr sz="2925" b="0" i="0">
                <a:solidFill>
                  <a:srgbClr val="12241C"/>
                </a:solidFill>
              </a:defRPr>
            </a:pPr>
            <a:r>
              <a:rPr sz="2925" b="0" i="0">
                <a:solidFill>
                  <a:srgbClr val="12241C"/>
                </a:solidFill>
              </a:rPr>
              <a:t>One named reviewer.</a:t>
            </a:r>
          </a:p>
          <a:p xmlns:a="http://schemas.openxmlformats.org/drawingml/2006/main">
            <a:pPr algn="ctr">
              <a:defRPr sz="2925" b="0" i="0">
                <a:solidFill>
                  <a:srgbClr val="12241C"/>
                </a:solidFill>
              </a:defRPr>
            </a:pPr>
            <a:r>
              <a:rPr sz="2925" b="0" i="0">
                <a:solidFill>
                  <a:srgbClr val="12241C"/>
                </a:solidFill>
              </a:rPr>
              <a:t>One clear decision.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FA7B725-A829-47AA-970C-065ADA4A04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600575"/>
            <a:ext cx="2524125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EB9105-EC63-4D1F-B055-58F54FF25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4810125"/>
            <a:ext cx="2524125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350" b="1" i="0">
                <a:solidFill>
                  <a:srgbClr val="12241C"/>
                </a:solidFill>
              </a:defRPr>
            </a:pPr>
            <a:r>
              <a:rPr sz="1350" b="1" i="0">
                <a:solidFill>
                  <a:srgbClr val="12241C"/>
                </a:solidFill>
              </a:rPr>
              <a:t>Closed design-partner beta</a:t>
            </a:r>
          </a:p>
        </p:txBody>
      </p:sp>
    </p:spTree>
    <p:extLst>
      <p:ext uri="{BB962C8B-B14F-4D97-AF65-F5344CB8AC3E}">
        <p14:creationId xmlns:p14="http://schemas.microsoft.com/office/powerpoint/2010/main" val="206824569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0C0D60C8-06C2-4F1E-81FA-4CF11AF4E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COMPANY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69F18D4-713D-4269-A3A8-A47A776C6D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02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85978862-940C-48C9-A14B-958169CBD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334500" cy="1162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The work is done. The decision is still scattered.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9DD0F4-D507-4D44-8409-D8067E4BE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238375"/>
            <a:ext cx="108204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7BA561C-5D58-458E-9C01-8124785791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765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6B46"/>
                </a:solidFill>
              </a:defRPr>
            </a:pPr>
            <a:r>
              <a:rPr sz="2625" b="0" i="0">
                <a:solidFill>
                  <a:srgbClr val="126B46"/>
                </a:solidFill>
              </a:rPr>
              <a:t>01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299BF3F-2BC7-46CD-A94A-9610D418D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25050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41C"/>
                </a:solidFill>
              </a:defRPr>
            </a:pPr>
            <a:r>
              <a:rPr sz="1800" b="1" i="0">
                <a:solidFill>
                  <a:srgbClr val="12241C"/>
                </a:solidFill>
              </a:rPr>
              <a:t>Scope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4C9F1ABF-DE12-4C96-B666-4A878DCA3C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25241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6159"/>
                </a:solidFill>
              </a:defRPr>
            </a:pPr>
            <a:r>
              <a:rPr sz="1575" b="0" i="0">
                <a:solidFill>
                  <a:srgbClr val="556159"/>
                </a:solidFill>
              </a:rPr>
              <a:t>The promise lives in a SOW.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B5A0E7D-1E70-476B-9509-366C1AF244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086100"/>
            <a:ext cx="888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2C8"/>
          </a:solidFill>
          <a:ln xmlns:a="http://schemas.openxmlformats.org/drawingml/2006/main" w="0">
            <a:solidFill>
              <a:srgbClr val="D5D2C8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0B42CB-122C-4B14-9510-71B822CB47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6B46"/>
                </a:solidFill>
              </a:defRPr>
            </a:pPr>
            <a:r>
              <a:rPr sz="2625" b="0" i="0">
                <a:solidFill>
                  <a:srgbClr val="126B46"/>
                </a:solidFill>
              </a:rPr>
              <a:t>02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996B4BB-4B96-4983-8F25-FDC74BD430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3813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41C"/>
                </a:solidFill>
              </a:defRPr>
            </a:pPr>
            <a:r>
              <a:rPr sz="1800" b="1" i="0">
                <a:solidFill>
                  <a:srgbClr val="12241C"/>
                </a:solidFill>
              </a:rPr>
              <a:t>Proof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4969B4E-99E9-4183-909C-26EC07D04E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34004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6159"/>
                </a:solidFill>
              </a:defRPr>
            </a:pPr>
            <a:r>
              <a:rPr sz="1575" b="0" i="0">
                <a:solidFill>
                  <a:srgbClr val="556159"/>
                </a:solidFill>
              </a:rPr>
              <a:t>Screenshots and observations live somewhere else.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5F2A606-682D-456B-8C68-43C358EFD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3962400"/>
            <a:ext cx="888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2C8"/>
          </a:solidFill>
          <a:ln xmlns:a="http://schemas.openxmlformats.org/drawingml/2006/main" w="0">
            <a:solidFill>
              <a:srgbClr val="D5D2C8"/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AD910EF-61A8-492B-9DBD-E8D88D082A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291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6B46"/>
                </a:solidFill>
              </a:defRPr>
            </a:pPr>
            <a:r>
              <a:rPr sz="2625" b="0" i="0">
                <a:solidFill>
                  <a:srgbClr val="126B46"/>
                </a:solidFill>
              </a:rPr>
              <a:t>03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6C5DC460-7DBA-496F-A1B3-97DFD1D04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2576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41C"/>
                </a:solidFill>
              </a:defRPr>
            </a:pPr>
            <a:r>
              <a:rPr sz="1800" b="1" i="0">
                <a:solidFill>
                  <a:srgbClr val="12241C"/>
                </a:solidFill>
              </a:rPr>
              <a:t>Decision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94956FAF-2B33-450F-ACEB-B5A410FA72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767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6159"/>
                </a:solidFill>
              </a:defRPr>
            </a:pPr>
            <a:r>
              <a:rPr sz="1575" b="0" i="0">
                <a:solidFill>
                  <a:srgbClr val="556159"/>
                </a:solidFill>
              </a:rPr>
              <a:t>Approval gets buried in email or chat.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B77CF2F-C2C9-4DB4-BB8C-E400E2210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4838700"/>
            <a:ext cx="8886825" cy="95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5D2C8"/>
          </a:solidFill>
          <a:ln xmlns:a="http://schemas.openxmlformats.org/drawingml/2006/main" w="0">
            <a:solidFill>
              <a:srgbClr val="D5D2C8"/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80255A0E-D753-4792-B18D-E487154549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05400"/>
            <a:ext cx="685800" cy="4953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625" b="0" i="0">
                <a:solidFill>
                  <a:srgbClr val="126B46"/>
                </a:solidFill>
              </a:defRPr>
            </a:pPr>
            <a:r>
              <a:rPr sz="2625" b="0" i="0">
                <a:solidFill>
                  <a:srgbClr val="126B46"/>
                </a:solidFill>
              </a:rPr>
              <a:t>04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401CC09-53FF-484A-90EC-12F95EA52B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666875" y="5133975"/>
            <a:ext cx="17145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00" b="1" i="0">
                <a:solidFill>
                  <a:srgbClr val="12241C"/>
                </a:solidFill>
              </a:defRPr>
            </a:pPr>
            <a:r>
              <a:rPr sz="1800" b="1" i="0">
                <a:solidFill>
                  <a:srgbClr val="12241C"/>
                </a:solidFill>
              </a:rPr>
              <a:t>Billing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E80E0921-C599-4DAF-B109-8983A516C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5153025"/>
            <a:ext cx="6762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575" b="0" i="0">
                <a:solidFill>
                  <a:srgbClr val="556159"/>
                </a:solidFill>
              </a:defRPr>
            </a:pPr>
            <a:r>
              <a:rPr sz="1575" b="0" i="0">
                <a:solidFill>
                  <a:srgbClr val="556159"/>
                </a:solidFill>
              </a:rPr>
              <a:t>The invoice handoff loses the evidence trail.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AC65135-7AE4-4556-BCF7-3CA644E046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0" y="6029325"/>
            <a:ext cx="46482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500" b="1" i="0">
                <a:solidFill>
                  <a:srgbClr val="126B46"/>
                </a:solidFill>
              </a:defRPr>
            </a:pPr>
            <a:r>
              <a:rPr sz="1500" b="1" i="0">
                <a:solidFill>
                  <a:srgbClr val="126B46"/>
                </a:solidFill>
              </a:rPr>
              <a:t>Greenlit’s job is to keep those four moments connected.</a:t>
            </a:r>
          </a:p>
        </p:txBody>
      </p:sp>
    </p:spTree>
    <p:extLst>
      <p:ext uri="{BB962C8B-B14F-4D97-AF65-F5344CB8AC3E}">
        <p14:creationId xmlns:p14="http://schemas.microsoft.com/office/powerpoint/2010/main" val="122591632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12535102-E16A-4E06-9982-B70A1761A6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COMPANY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0176EF-EC10-4E68-ADE5-BB51577D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03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1E6EEA3E-2085-47B9-9BE9-778244804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23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One evidence chain replaces the handoff gap.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76F7E1D9-3953-439E-B385-A1B2E349B1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81250"/>
            <a:ext cx="628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AFD12F"/>
                </a:solidFill>
              </a:defRPr>
            </a:pPr>
            <a:r>
              <a:rPr sz="5250" b="0" i="0">
                <a:solidFill>
                  <a:srgbClr val="AFD12F"/>
                </a:solidFill>
              </a:rPr>
              <a:t>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C6E40A84-04DB-4C69-B5D7-B61DE46A3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352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136F349B-DE3E-4EA0-855F-8BE45AB73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241C"/>
                </a:solidFill>
              </a:defRPr>
            </a:pPr>
            <a:r>
              <a:rPr sz="2025" b="1" i="0">
                <a:solidFill>
                  <a:srgbClr val="12241C"/>
                </a:solidFill>
              </a:rPr>
              <a:t>Confirm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819A960-81EB-441E-A44D-C1FE2E8D33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1148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6159"/>
                </a:solidFill>
              </a:defRPr>
            </a:pPr>
            <a:r>
              <a:rPr sz="1350" b="0" i="0">
                <a:solidFill>
                  <a:srgbClr val="556159"/>
                </a:solidFill>
              </a:rPr>
              <a:t>Exact SOW language becomes human-confirmed acceptance criteria.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13C3263-16D8-41B7-8DE6-451258E93C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33700" y="28575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26B46"/>
                </a:solidFill>
              </a:defRPr>
            </a:pPr>
            <a:r>
              <a:rPr sz="2400" b="1" i="0">
                <a:solidFill>
                  <a:srgbClr val="126B46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A1F5186-DE14-4D0C-A620-9DFA8814F1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2381250"/>
            <a:ext cx="628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AFD12F"/>
                </a:solidFill>
              </a:defRPr>
            </a:pPr>
            <a:r>
              <a:rPr sz="5250" b="0" i="0">
                <a:solidFill>
                  <a:srgbClr val="AFD12F"/>
                </a:solidFill>
              </a:rPr>
              <a:t>2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13F95F0-7B6E-4991-8A5F-1ED7228BBF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352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22137D4-5CC2-4DF0-86F7-314AAAC30B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3619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241C"/>
                </a:solidFill>
              </a:defRPr>
            </a:pPr>
            <a:r>
              <a:rPr sz="2025" b="1" i="0">
                <a:solidFill>
                  <a:srgbClr val="12241C"/>
                </a:solidFill>
              </a:rPr>
              <a:t>Observe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028D5A6-40C8-45DC-857C-E4D84A8F93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90900" y="41148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6159"/>
                </a:solidFill>
              </a:defRPr>
            </a:pPr>
            <a:r>
              <a:rPr sz="1350" b="0" i="0">
                <a:solidFill>
                  <a:srgbClr val="556159"/>
                </a:solidFill>
              </a:rPr>
              <a:t>Typed browser checks inspect an authorized staging build.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FFDCF95-5DEE-4FE8-905E-D1132BB52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38800" y="28575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26B46"/>
                </a:solidFill>
              </a:defRPr>
            </a:pPr>
            <a:r>
              <a:rPr sz="2400" b="1" i="0">
                <a:solidFill>
                  <a:srgbClr val="126B46"/>
                </a:solidFill>
              </a:rPr>
              <a:t>→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8052F4F-98AA-4C1D-A8E4-D9B5EC0057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2381250"/>
            <a:ext cx="628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126B46"/>
                </a:solidFill>
              </a:defRPr>
            </a:pPr>
            <a:r>
              <a:rPr sz="5250" b="0" i="0">
                <a:solidFill>
                  <a:srgbClr val="126B46"/>
                </a:solidFill>
              </a:rPr>
              <a:t>3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CBAF01D-4D3B-4556-8E45-A0C7938B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352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6B46"/>
          </a:solidFill>
          <a:ln xmlns:a="http://schemas.openxmlformats.org/drawingml/2006/main" w="0">
            <a:solidFill>
              <a:srgbClr val="126B46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467E517-4EFA-4EBE-971E-A873FE666C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3619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241C"/>
                </a:solidFill>
              </a:defRPr>
            </a:pPr>
            <a:r>
              <a:rPr sz="2025" b="1" i="0">
                <a:solidFill>
                  <a:srgbClr val="12241C"/>
                </a:solidFill>
              </a:rPr>
              <a:t>Decide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9C04965-C345-4364-8DE5-EC23C2A41C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41148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6159"/>
                </a:solidFill>
              </a:defRPr>
            </a:pPr>
            <a:r>
              <a:rPr sz="1350" b="0" i="0">
                <a:solidFill>
                  <a:srgbClr val="556159"/>
                </a:solidFill>
              </a:rPr>
              <a:t>One named reviewer sees the promise, result, evidence, and deadline.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52EE9594-0759-4C30-B2D5-88747D30C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43900" y="2857500"/>
            <a:ext cx="38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2400" b="1" i="0">
                <a:solidFill>
                  <a:srgbClr val="126B46"/>
                </a:solidFill>
              </a:defRPr>
            </a:pPr>
            <a:r>
              <a:rPr sz="2400" b="1" i="0">
                <a:solidFill>
                  <a:srgbClr val="126B46"/>
                </a:solidFill>
              </a:rPr>
              <a:t>→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157D690-D188-4A5C-B2F2-7141C6898C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2381250"/>
            <a:ext cx="6286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5250" b="0" i="0">
                <a:solidFill>
                  <a:srgbClr val="AFD12F"/>
                </a:solidFill>
              </a:defRPr>
            </a:pPr>
            <a:r>
              <a:rPr sz="5250" b="0" i="0">
                <a:solidFill>
                  <a:srgbClr val="AFD12F"/>
                </a:solidFill>
              </a:rPr>
              <a:t>4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6D7763-A013-4F85-A5DB-2A242BCF82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352800"/>
            <a:ext cx="21717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78F0E32D-497C-4195-A7B8-6C1DFABB3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3619500"/>
            <a:ext cx="20955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2025" b="1" i="0">
                <a:solidFill>
                  <a:srgbClr val="12241C"/>
                </a:solidFill>
              </a:defRPr>
            </a:pPr>
            <a:r>
              <a:rPr sz="2025" b="1" i="0">
                <a:solidFill>
                  <a:srgbClr val="12241C"/>
                </a:solidFill>
              </a:rPr>
              <a:t>Record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FFC8E4E-B29E-41AB-9FED-83725DB4D9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01100" y="4114800"/>
            <a:ext cx="2171700" cy="1066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350" b="0" i="0">
                <a:solidFill>
                  <a:srgbClr val="556159"/>
                </a:solidFill>
              </a:defRPr>
            </a:pPr>
            <a:r>
              <a:rPr sz="1350" b="0" i="0">
                <a:solidFill>
                  <a:srgbClr val="556159"/>
                </a:solidFill>
              </a:rPr>
              <a:t>The decision and invoice-ready context stay attached.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F40982D-6FF5-4C5D-B701-2CFD04F0C0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86425"/>
            <a:ext cx="10820400" cy="5810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CB057C7D-F805-4BE3-BD1A-10BDD9F5CF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5857875"/>
            <a:ext cx="102489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650" b="1" i="0">
                <a:solidFill>
                  <a:srgbClr val="FFFEFA"/>
                </a:solidFill>
              </a:defRPr>
            </a:pPr>
            <a:r>
              <a:rPr sz="1650" b="1" i="0">
                <a:solidFill>
                  <a:srgbClr val="FFFEFA"/>
                </a:solidFill>
              </a:rPr>
              <a:t>AI drafts. The agency confirms. The browser observes. The client decides.</a:t>
            </a:r>
          </a:p>
        </p:txBody>
      </p:sp>
    </p:spTree>
    <p:extLst>
      <p:ext uri="{BB962C8B-B14F-4D97-AF65-F5344CB8AC3E}">
        <p14:creationId xmlns:p14="http://schemas.microsoft.com/office/powerpoint/2010/main" val="1938775426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7DC3FFF-ABE9-4A24-B7F0-815E1337AF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COMPANY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437F83-DD51-4006-8E8B-02B9660C77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04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BF0EB57-76D8-4C8D-A926-5520BDF149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7620000" cy="704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A polished success message is not proof.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67114B2-C000-48C6-8159-B632962FB0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571750"/>
            <a:ext cx="4095750" cy="1428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56159"/>
                </a:solidFill>
              </a:defRPr>
            </a:pPr>
            <a:r>
              <a:rPr sz="1650" b="0" i="0">
                <a:solidFill>
                  <a:srgbClr val="556159"/>
                </a:solidFill>
              </a:rPr>
              <a:t>The synthetic release candidate looks successful, while the underlying request fails. Greenlit keeps the observed failure attached to the frozen promise.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735C9DA-8577-47D2-8A1B-2A04D1E4BF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429125"/>
            <a:ext cx="4000500" cy="1190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0EB"/>
          </a:solidFill>
          <a:ln xmlns:a="http://schemas.openxmlformats.org/drawingml/2006/main" w="19050">
            <a:solidFill>
              <a:srgbClr val="B63F3A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EAC1AE4-2C15-4A10-A0F7-CE65EEE04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648200"/>
            <a:ext cx="342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1" i="0">
                <a:solidFill>
                  <a:srgbClr val="B63F3A"/>
                </a:solidFill>
              </a:defRPr>
            </a:pPr>
            <a:r>
              <a:rPr sz="1275" b="1" i="0">
                <a:solidFill>
                  <a:srgbClr val="B63F3A"/>
                </a:solidFill>
              </a:rPr>
              <a:t>AC-04 · NEEDS WORK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622F1E-1975-4133-9FC1-9F3E071BE5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095875"/>
            <a:ext cx="3429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75" b="0" i="0">
                <a:solidFill>
                  <a:srgbClr val="12241C"/>
                </a:solidFill>
              </a:defRPr>
            </a:pPr>
            <a:r>
              <a:rPr sz="1275" b="0" i="0">
                <a:solidFill>
                  <a:srgbClr val="12241C"/>
                </a:solidFill>
              </a:rPr>
              <a:t>Visible confirmation contradicted the HTTP 500 response.</a:t>
            </a:r>
          </a:p>
        </p:txBody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335d7d07ad94d53"/>
          <a:srcRect xmlns:a="http://schemas.openxmlformats.org/drawingml/2006/main" l="0" t="1064" r="0" b="106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91125" y="2238375"/>
            <a:ext cx="6315075" cy="3476625"/>
          </a:xfrm>
          <a:prstGeom xmlns:a="http://schemas.openxmlformats.org/drawingml/2006/main" prst="roundRect">
            <a:avLst>
              <a:gd name="adj" fmla="val 2192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08CB14-00C5-4E9B-9530-8CC918B21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91125" y="5867400"/>
            <a:ext cx="6315075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125" b="0" i="0">
                <a:solidFill>
                  <a:srgbClr val="556159"/>
                </a:solidFill>
              </a:defRPr>
            </a:pPr>
            <a:r>
              <a:rPr sz="1125" b="0" i="0">
                <a:solidFill>
                  <a:srgbClr val="556159"/>
                </a:solidFill>
              </a:rPr>
              <a:t>Synthetic fixture · presentation evidence, not a retained runner artifact</a:t>
            </a:r>
          </a:p>
        </p:txBody>
      </p:sp>
    </p:spTree>
    <p:extLst>
      <p:ext uri="{BB962C8B-B14F-4D97-AF65-F5344CB8AC3E}">
        <p14:creationId xmlns:p14="http://schemas.microsoft.com/office/powerpoint/2010/main" val="40106530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FFEF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2FBF8B6-4548-4C48-AD1F-DD4C25F787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COMPANY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3659289-3BED-4C62-8DC6-76BEB8209B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05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C3AF97CA-989A-4873-AA9C-2A80FF1326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9334500" cy="723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The client sees the promise—not a test dashboard.</a:t>
            </a:r>
          </a:p>
        </p:txBody>
      </p:sp>
      <p:pic>
        <p:nvPicPr>
          <p:cNvPr id="1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58a51f5215940cb"/>
          <a:srcRect xmlns:a="http://schemas.openxmlformats.org/drawingml/2006/main" l="112" t="0" r="112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85800" y="2095500"/>
            <a:ext cx="7096125" cy="4000500"/>
          </a:xfrm>
          <a:prstGeom xmlns:a="http://schemas.openxmlformats.org/drawingml/2006/main" prst="roundRect">
            <a:avLst>
              <a:gd name="adj" fmla="val 1905"/>
            </a:avLst>
          </a:prstGeom>
        </p:spPr>
      </p:pic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9B42B97-CFB7-4A3E-BAED-2FDD871A5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2381250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Exact source language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C12EB7A9-1E77-4649-99BF-C6AE522274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3190875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Expected and observed result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8F36467-596D-4780-835A-0F118F1DE2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4219575"/>
            <a:ext cx="285750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Evidence and deadline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AFEEBD9-55AA-4FA9-8E7C-6696D76F75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34375" y="5029200"/>
            <a:ext cx="2857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6B46"/>
                </a:solidFill>
              </a:defRPr>
            </a:pPr>
            <a:r>
              <a:rPr sz="1875" b="1" i="0">
                <a:solidFill>
                  <a:srgbClr val="126B46"/>
                </a:solidFill>
              </a:rPr>
              <a:t>Approve or request changes</a:t>
            </a:r>
          </a:p>
        </p:txBody>
      </p:sp>
    </p:spTree>
    <p:extLst>
      <p:ext uri="{BB962C8B-B14F-4D97-AF65-F5344CB8AC3E}">
        <p14:creationId xmlns:p14="http://schemas.microsoft.com/office/powerpoint/2010/main" val="52676350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4F1E9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BA5F94-CC59-4C40-8891-0725111B1D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GREENLIT · COMPANY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9C3F5B3-0AED-4966-8CBB-9BFD820E9E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556159"/>
                </a:solidFill>
              </a:defRPr>
            </a:pPr>
            <a:r>
              <a:rPr sz="975" b="1" i="0">
                <a:solidFill>
                  <a:srgbClr val="556159"/>
                </a:solidFill>
              </a:rPr>
              <a:t>06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20B1300-8477-4AB0-81C6-926377F8C8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858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600" b="0" i="0">
                <a:solidFill>
                  <a:srgbClr val="12241C"/>
                </a:solidFill>
              </a:defRPr>
            </a:pPr>
            <a:r>
              <a:rPr sz="3600" b="0" i="0">
                <a:solidFill>
                  <a:srgbClr val="12241C"/>
                </a:solidFill>
              </a:rPr>
              <a:t>The decision becomes an invoice-ready record.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352DB63-3C7F-41A7-85D8-A105AEA2D3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000250"/>
            <a:ext cx="3762375" cy="1238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0" i="0">
                <a:solidFill>
                  <a:srgbClr val="556159"/>
                </a:solidFill>
              </a:defRPr>
            </a:pPr>
            <a:r>
              <a:rPr sz="1650" b="0" i="0">
                <a:solidFill>
                  <a:srgbClr val="556159"/>
                </a:solidFill>
              </a:rPr>
              <a:t>One retained view connects the milestone value, frozen revision, observed build, named decision, and print-ready receipt.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C7A9A6-211C-45E9-A278-81A8442819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38575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126B46"/>
                </a:solidFill>
              </a:defRPr>
            </a:pPr>
            <a:r>
              <a:rPr sz="1650" b="1" i="0">
                <a:solidFill>
                  <a:srgbClr val="126B46"/>
                </a:solidFill>
              </a:rPr>
              <a:t>What it is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7287311-DE97-4045-96C7-843810D3E9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286250"/>
            <a:ext cx="3762375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41C"/>
                </a:solidFill>
              </a:defRPr>
            </a:pPr>
            <a:r>
              <a:rPr sz="1425" b="0" i="0">
                <a:solidFill>
                  <a:srgbClr val="12241C"/>
                </a:solidFill>
              </a:rPr>
              <a:t>A business approval record and billing handoff.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367D6CDE-5952-420E-8166-38EF23FFC9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43500"/>
            <a:ext cx="1809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650" b="1" i="0">
                <a:solidFill>
                  <a:srgbClr val="B63F3A"/>
                </a:solidFill>
              </a:defRPr>
            </a:pPr>
            <a:r>
              <a:rPr sz="1650" b="1" i="0">
                <a:solidFill>
                  <a:srgbClr val="B63F3A"/>
                </a:solidFill>
              </a:rPr>
              <a:t>What it is not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38648C0-B7D2-4BA5-BE6A-8EA84AB48E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91175"/>
            <a:ext cx="3762375" cy="628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425" b="0" i="0">
                <a:solidFill>
                  <a:srgbClr val="12241C"/>
                </a:solidFill>
              </a:defRPr>
            </a:pPr>
            <a:r>
              <a:rPr sz="1425" b="0" i="0">
                <a:solidFill>
                  <a:srgbClr val="12241C"/>
                </a:solidFill>
              </a:rPr>
              <a:t>A signature product, certification, ledger, or payment guarantee.</a:t>
            </a:r>
          </a:p>
        </p:txBody>
      </p:sp>
      <p:pic>
        <p:nvPicPr>
          <p:cNvPr id="1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d452879a9be42f6"/>
          <a:srcRect xmlns:a="http://schemas.openxmlformats.org/drawingml/2006/main" l="9428" t="0" r="9428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48250" y="1666875"/>
            <a:ext cx="6457950" cy="4476750"/>
          </a:xfrm>
          <a:prstGeom xmlns:a="http://schemas.openxmlformats.org/drawingml/2006/main" prst="roundRect">
            <a:avLst>
              <a:gd name="adj" fmla="val 1702"/>
            </a:avLst>
          </a:prstGeom>
        </p:spPr>
      </p:pic>
    </p:spTree>
    <p:extLst>
      <p:ext uri="{BB962C8B-B14F-4D97-AF65-F5344CB8AC3E}">
        <p14:creationId xmlns:p14="http://schemas.microsoft.com/office/powerpoint/2010/main" val="2082649064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12241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A4D90CA-C3CF-4EF4-A29B-AB875418A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61950"/>
            <a:ext cx="295275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975" b="1" i="0">
                <a:solidFill>
                  <a:srgbClr val="FFFEFA"/>
                </a:solidFill>
              </a:defRPr>
            </a:pPr>
            <a:r>
              <a:rPr sz="975" b="1" i="0">
                <a:solidFill>
                  <a:srgbClr val="FFFEFA"/>
                </a:solidFill>
              </a:rPr>
              <a:t>GREENLIT · COMPANY DEMO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43BA42-6E95-4119-B03C-2025784737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0" y="361950"/>
            <a:ext cx="4572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975" b="1" i="0">
                <a:solidFill>
                  <a:srgbClr val="FFFEFA"/>
                </a:solidFill>
              </a:defRPr>
            </a:pPr>
            <a:r>
              <a:rPr sz="975" b="1" i="0">
                <a:solidFill>
                  <a:srgbClr val="FFFEFA"/>
                </a:solidFill>
              </a:rPr>
              <a:t>07</a:t>
            </a:r>
          </a:p>
        </p:txBody>
      </p:sp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DE2E1EE-B999-40F9-8089-EF02611F30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000125"/>
            <a:ext cx="8096250" cy="7334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3750" b="0" i="0">
                <a:solidFill>
                  <a:srgbClr val="FFFEFA"/>
                </a:solidFill>
              </a:defRPr>
            </a:pPr>
            <a:r>
              <a:rPr sz="3750" b="0" i="0">
                <a:solidFill>
                  <a:srgbClr val="FFFEFA"/>
                </a:solidFill>
              </a:rPr>
              <a:t>Start with one bounded milestone.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AD4DDFF-F373-43EB-8DC8-86A1F524B6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362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6FF61"/>
                </a:solidFill>
              </a:defRPr>
            </a:pPr>
            <a:r>
              <a:rPr sz="1200" b="1" i="0">
                <a:solidFill>
                  <a:srgbClr val="D6FF61"/>
                </a:solidFill>
              </a:rPr>
              <a:t>BEST FIT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1DC1123-1665-4E8F-BCE8-D36FF0E805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857500"/>
            <a:ext cx="45720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2–50-person U.S. web agency</a:t>
            </a:r>
          </a:p>
          <a:p xmlns:a="http://schemas.openxmlformats.org/drawingml/2006/main">
            <a:pPr algn="l"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Recurring milestone approvals</a:t>
            </a:r>
          </a:p>
          <a:p xmlns:a="http://schemas.openxmlformats.org/drawingml/2006/main">
            <a:pPr algn="l"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Named client reviewer</a:t>
            </a:r>
          </a:p>
          <a:p xmlns:a="http://schemas.openxmlformats.org/drawingml/2006/main">
            <a:pPr algn="l"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Authorized public HTTPS staging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B8471B27-4CFB-4D0C-93E8-7961C57959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43600" y="2143125"/>
            <a:ext cx="19050" cy="3619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556159"/>
          </a:solidFill>
          <a:ln xmlns:a="http://schemas.openxmlformats.org/drawingml/2006/main" w="0">
            <a:solidFill>
              <a:srgbClr val="556159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3774CFF-5BA5-475D-B634-743F5A97F9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362200"/>
            <a:ext cx="18097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200" b="1" i="0">
                <a:solidFill>
                  <a:srgbClr val="D6FF61"/>
                </a:solidFill>
              </a:defRPr>
            </a:pPr>
            <a:r>
              <a:rPr sz="1200" b="1" i="0">
                <a:solidFill>
                  <a:srgbClr val="D6FF61"/>
                </a:solidFill>
              </a:rPr>
              <a:t>BOUNDARIES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3AC9D00-B8E1-4669-9FA0-862523CA4D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857500"/>
            <a:ext cx="4762500" cy="2095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No confidential or regulated data</a:t>
            </a:r>
          </a:p>
          <a:p xmlns:a="http://schemas.openxmlformats.org/drawingml/2006/main">
            <a:pPr algn="l"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No protected-preview bypasses</a:t>
            </a:r>
          </a:p>
          <a:p xmlns:a="http://schemas.openxmlformats.org/drawingml/2006/main">
            <a:pPr algn="l"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No compliance or signature claims</a:t>
            </a:r>
          </a:p>
          <a:p xmlns:a="http://schemas.openxmlformats.org/drawingml/2006/main">
            <a:pPr algn="l">
              <a:defRPr sz="1875" b="0" i="0">
                <a:solidFill>
                  <a:srgbClr val="FFFEFA"/>
                </a:solidFill>
              </a:defRPr>
            </a:pPr>
            <a:r>
              <a:rPr sz="1875" b="0" i="0">
                <a:solidFill>
                  <a:srgbClr val="FFFEFA"/>
                </a:solidFill>
              </a:rPr>
              <a:t>No guaranteed invoice or payment outcome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947F2FC-F18F-4E9C-9381-D70709D36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676900"/>
            <a:ext cx="106489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6FF61"/>
          </a:solidFill>
          <a:ln xmlns:a="http://schemas.openxmlformats.org/drawingml/2006/main" w="0">
            <a:solidFill>
              <a:srgbClr val="D6FF61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185E8753-6AEA-4360-9953-1A4EC71CE9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838825"/>
            <a:ext cx="1019175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425" b="1" i="0">
                <a:solidFill>
                  <a:srgbClr val="12241C"/>
                </a:solidFill>
              </a:defRPr>
            </a:pPr>
            <a:r>
              <a:rPr sz="1425" b="1" i="0">
                <a:solidFill>
                  <a:srgbClr val="12241C"/>
                </a:solidFill>
              </a:rPr>
              <a:t>Recommended research format: 30 days · one milestone at a time · separate permission for any case study</a:t>
            </a:r>
          </a:p>
        </p:txBody>
      </p:sp>
    </p:spTree>
    <p:extLst>
      <p:ext uri="{BB962C8B-B14F-4D97-AF65-F5344CB8AC3E}">
        <p14:creationId xmlns:p14="http://schemas.microsoft.com/office/powerpoint/2010/main" val="2096210238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D6FF6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2" name="title">
            <a:extLst xmlns:a="http://schemas.openxmlformats.org/drawingml/2006/main">
              <a:ext uri="{FF2B5EF4-FFF2-40B4-BE49-F238E27FC236}">
                <a16:creationId xmlns:a16="http://schemas.microsoft.com/office/drawing/2014/main" id="{5ADB57A8-EF96-4A8F-8EDE-0D12F535F6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876300"/>
            <a:ext cx="9525000" cy="1219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4200" b="0" i="0">
                <a:solidFill>
                  <a:srgbClr val="12241C"/>
                </a:solidFill>
              </a:defRPr>
            </a:pPr>
            <a:r>
              <a:rPr sz="4200" b="0" i="0">
                <a:solidFill>
                  <a:srgbClr val="12241C"/>
                </a:solidFill>
              </a:rPr>
              <a:t>The next useful step is a focused workflow conversation.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39B7056-6787-4277-B8F0-F6B0F3C6E5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2428875"/>
            <a:ext cx="1082040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E565D1D-5B0B-43EB-875B-4753DBF238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00037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Bring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399F02F-2E21-4A09-B7E8-06D9D41861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000375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41C"/>
                </a:solidFill>
              </a:defRPr>
            </a:pPr>
            <a:r>
              <a:rPr sz="1725" b="0" i="0">
                <a:solidFill>
                  <a:srgbClr val="12241C"/>
                </a:solidFill>
              </a:rPr>
              <a:t>A recurring approval bottleneck and a safe upcoming milestone.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05BC96C-93B1-48DD-9E06-2F57DCC490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3829050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Leave out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7EB1BEDA-86E1-412A-AECA-3DAB52FA23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3829050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41C"/>
                </a:solidFill>
              </a:defRPr>
            </a:pPr>
            <a:r>
              <a:rPr sz="1725" b="0" i="0">
                <a:solidFill>
                  <a:srgbClr val="12241C"/>
                </a:solidFill>
              </a:rPr>
              <a:t>Confidential SOWs, credentials, access codes, and client data.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67E575D-6E25-4C9E-BF86-AF0871037F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4657725"/>
            <a:ext cx="142875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875" b="1" i="0">
                <a:solidFill>
                  <a:srgbClr val="12241C"/>
                </a:solidFill>
              </a:defRPr>
            </a:pPr>
            <a:r>
              <a:rPr sz="1875" b="1" i="0">
                <a:solidFill>
                  <a:srgbClr val="12241C"/>
                </a:solidFill>
              </a:rPr>
              <a:t>Decide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055F2607-D16D-4983-B798-BC2811D84D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33625" y="4657725"/>
            <a:ext cx="847725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l">
              <a:defRPr sz="1725" b="0" i="0">
                <a:solidFill>
                  <a:srgbClr val="12241C"/>
                </a:solidFill>
              </a:defRPr>
            </a:pPr>
            <a:r>
              <a:rPr sz="1725" b="0" i="0">
                <a:solidFill>
                  <a:srgbClr val="12241C"/>
                </a:solidFill>
              </a:rPr>
              <a:t>Whether one bounded design-partner pilot is worth testing.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EC6DBE4-9CCF-4F30-9954-4395272039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572125"/>
            <a:ext cx="752475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2241C"/>
          </a:solidFill>
          <a:ln xmlns:a="http://schemas.openxmlformats.org/drawingml/2006/main" w="0">
            <a:solidFill>
              <a:srgbClr val="12241C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76771F8-7EB1-4377-BE32-2B5CF5591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5772150"/>
            <a:ext cx="702945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ctr">
              <a:defRPr sz="1725" b="1" i="0">
                <a:solidFill>
                  <a:srgbClr val="FFFEFA"/>
                </a:solidFill>
              </a:defRPr>
            </a:pPr>
            <a:r>
              <a:rPr sz="1725" b="1" i="0">
                <a:solidFill>
                  <a:srgbClr val="FFFEFA"/>
                </a:solidFill>
              </a:rPr>
              <a:t>greenlitproof.vercel.app/request-demo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60338849-F9A3-42B4-A240-919C2522F6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15375" y="5657850"/>
            <a:ext cx="2790825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anchor="t"/>
          <a:lstStyle xmlns:a="http://schemas.openxmlformats.org/drawingml/2006/main"/>
          <a:p xmlns:a="http://schemas.openxmlformats.org/drawingml/2006/main">
            <a:pPr algn="r">
              <a:defRPr sz="1275" b="1" i="0">
                <a:solidFill>
                  <a:srgbClr val="12241C"/>
                </a:solidFill>
              </a:defRPr>
            </a:pPr>
            <a:r>
              <a:rPr sz="1275" b="1" i="0">
                <a:solidFill>
                  <a:srgbClr val="12241C"/>
                </a:solidFill>
              </a:rPr>
              <a:t>Trust boundaries:</a:t>
            </a:r>
          </a:p>
          <a:p xmlns:a="http://schemas.openxmlformats.org/drawingml/2006/main">
            <a:pPr algn="r">
              <a:defRPr sz="1275" b="1" i="0">
                <a:solidFill>
                  <a:srgbClr val="12241C"/>
                </a:solidFill>
              </a:defRPr>
            </a:pPr>
            <a:r>
              <a:rPr sz="1275" b="1" i="0">
                <a:solidFill>
                  <a:srgbClr val="12241C"/>
                </a:solidFill>
              </a:rPr>
              <a:t>greenlitproof.vercel.app/trust</a:t>
            </a:r>
          </a:p>
        </p:txBody>
      </p:sp>
    </p:spTree>
    <p:extLst>
      <p:ext uri="{BB962C8B-B14F-4D97-AF65-F5344CB8AC3E}">
        <p14:creationId xmlns:p14="http://schemas.microsoft.com/office/powerpoint/2010/main" val="531488574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2026-07-27T01:59:29.2280000Z</dcterms:created>
  <dcterms:modified xsi:type="dcterms:W3CDTF">2026-07-27T01:59:29.2280000Z</dcterms:modified>
</coreProperties>
</file>